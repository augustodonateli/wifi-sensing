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3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2385000" cy="43205400"/>
  <p:notesSz cx="6858000" cy="9144000"/>
  <p:embeddedFontLst>
    <p:embeddedFont>
      <p:font typeface="Arial MT Pro" panose="020B0604020202020204" charset="0"/>
      <p:regular r:id="rId4"/>
    </p:embeddedFont>
    <p:embeddedFont>
      <p:font typeface="Arial MT Pro Bold" panose="020B0604020202020204" charset="0"/>
      <p:regular r:id="rId5"/>
    </p:embeddedFont>
    <p:embeddedFont>
      <p:font typeface="Open Sans Bold" panose="020B0604020202020204" charset="0"/>
      <p:regular r:id="rId6"/>
      <p:bold r:id="rId7"/>
    </p:embeddedFont>
    <p:embeddedFont>
      <p:font typeface="Sunset Hill" pitchFamily="50" charset="0"/>
      <p:regular r:id="rId8"/>
    </p:embeddedFont>
    <p:embeddedFont>
      <p:font typeface="TT Rounds Condensed" panose="020B0604020202020204" charset="0"/>
      <p:regular r:id="rId9"/>
    </p:embeddedFont>
    <p:embeddedFont>
      <p:font typeface="TT Rounds Condensed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45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101" autoAdjust="0"/>
  </p:normalViewPr>
  <p:slideViewPr>
    <p:cSldViewPr>
      <p:cViewPr>
        <p:scale>
          <a:sx n="25" d="100"/>
          <a:sy n="25" d="100"/>
        </p:scale>
        <p:origin x="1638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09975" y="512763"/>
            <a:ext cx="19240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jpe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svg"/><Relationship Id="rId12" Type="http://schemas.openxmlformats.org/officeDocument/2006/relationships/image" Target="../media/image10.svg"/><Relationship Id="rId13" Type="http://schemas.openxmlformats.org/officeDocument/2006/relationships/image" Target="../media/image11.svg"/><Relationship Id="rId14" Type="http://schemas.openxmlformats.org/officeDocument/2006/relationships/image" Target="../media/image12.sv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32394525" cy="80560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5759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907720" y="10440000"/>
            <a:ext cx="26679600" cy="179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pt-BR" sz="4000" b="1" spc="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Augusto Donateli Simões e Daniel Elias Cardoso · Orientação: Diego Barcelos Rodrigues</a:t>
            </a:r>
          </a:p>
          <a:p>
            <a:pPr algn="ctr">
              <a:lnSpc>
                <a:spcPts val="3600"/>
              </a:lnSpc>
            </a:pPr>
            <a:r>
              <a:rPr lang="pt-BR" sz="3000" spc="36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Instituto Federal do Espírito Santo (Ifes) – Campus Cachoeiro de Itapemirim, ES</a:t>
            </a:r>
          </a:p>
        </p:txBody>
      </p:sp>
      <p:grpSp>
        <p:nvGrpSpPr>
          <p:cNvPr id="9" name="Group 9"/>
          <p:cNvGrpSpPr>
            <a:grpSpLocks noGrp="1" noUngrp="1" noRot="1" noMove="1" noResize="1"/>
          </p:cNvGrpSpPr>
          <p:nvPr/>
        </p:nvGrpSpPr>
        <p:grpSpPr>
          <a:xfrm>
            <a:off x="987300" y="12233340"/>
            <a:ext cx="29905560" cy="12960"/>
            <a:chOff x="0" y="0"/>
            <a:chExt cx="39874080" cy="17280"/>
          </a:xfrm>
        </p:grpSpPr>
        <p:sp>
          <p:nvSpPr>
            <p:cNvPr id="10" name="Freeform 10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382" y="0"/>
              <a:ext cx="39857299" cy="17272"/>
            </a:xfrm>
            <a:custGeom>
              <a:avLst/>
              <a:gdLst/>
              <a:ahLst/>
              <a:cxnLst/>
              <a:rect l="l" t="t" r="r" b="b"/>
              <a:pathLst>
                <a:path w="39857299" h="17272">
                  <a:moveTo>
                    <a:pt x="0" y="0"/>
                  </a:moveTo>
                  <a:lnTo>
                    <a:pt x="39857299" y="508"/>
                  </a:lnTo>
                  <a:lnTo>
                    <a:pt x="39857299" y="17272"/>
                  </a:lnTo>
                  <a:lnTo>
                    <a:pt x="0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40000" y="8604000"/>
            <a:ext cx="29520000" cy="182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0"/>
              </a:lnSpc>
            </a:pPr>
            <a:r>
              <a:rPr lang="pt-BR" sz="6000" b="1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WAVE SENSE: DETECÇÃO DE MOVIMENTO HUMANO SEM CÂMERAS USANDO SINAIS WI-FI E ESP32</a:t>
            </a:r>
          </a:p>
        </p:txBody>
      </p:sp>
      <p:pic>
        <p:nvPicPr>
          <p:cNvPr id="45" name="Gráfico 44">
            <a:extLst>
              <a:ext uri="{FF2B5EF4-FFF2-40B4-BE49-F238E27FC236}">
                <a16:creationId xmlns:a16="http://schemas.microsoft.com/office/drawing/2014/main" id="{6057106C-5C78-61D5-E217-0B6EF8130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7811" y="41033700"/>
            <a:ext cx="6863488" cy="1649877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5A6A52B4-AD40-6063-FBBD-ED34CA7626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372"/>
          <a:stretch>
            <a:fillRect/>
          </a:stretch>
        </p:blipFill>
        <p:spPr>
          <a:xfrm>
            <a:off x="25219943" y="41033841"/>
            <a:ext cx="1916567" cy="1649593"/>
          </a:xfrm>
          <a:prstGeom prst="rect">
            <a:avLst/>
          </a:prstGeom>
        </p:spPr>
      </p:pic>
      <p:pic>
        <p:nvPicPr>
          <p:cNvPr id="60" name="Gráfico 59">
            <a:extLst>
              <a:ext uri="{FF2B5EF4-FFF2-40B4-BE49-F238E27FC236}">
                <a16:creationId xmlns:a16="http://schemas.microsoft.com/office/drawing/2014/main" id="{36FDE24A-1046-316B-F4B6-A9EADF1CFF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30406" y="41132941"/>
            <a:ext cx="3886200" cy="1451393"/>
          </a:xfrm>
          <a:prstGeom prst="rect">
            <a:avLst/>
          </a:prstGeom>
        </p:spPr>
      </p:pic>
      <p:pic>
        <p:nvPicPr>
          <p:cNvPr id="73" name="Imagem 72">
            <a:extLst>
              <a:ext uri="{FF2B5EF4-FFF2-40B4-BE49-F238E27FC236}">
                <a16:creationId xmlns:a16="http://schemas.microsoft.com/office/drawing/2014/main" id="{D8F896D6-D168-06BE-EA43-C7D31A1218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-30506" y="-1"/>
            <a:ext cx="32455538" cy="8048119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832465D3-E4A3-4BF6-8294-B460815769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2" t="11828" r="11618" b="11868"/>
          <a:stretch>
            <a:fillRect/>
          </a:stretch>
        </p:blipFill>
        <p:spPr>
          <a:xfrm>
            <a:off x="616974" y="1284347"/>
            <a:ext cx="6248400" cy="6230588"/>
          </a:xfrm>
          <a:prstGeom prst="rect">
            <a:avLst/>
          </a:prstGeom>
        </p:spPr>
      </p:pic>
      <p:pic>
        <p:nvPicPr>
          <p:cNvPr id="67" name="Gráfico 66">
            <a:extLst>
              <a:ext uri="{FF2B5EF4-FFF2-40B4-BE49-F238E27FC236}">
                <a16:creationId xmlns:a16="http://schemas.microsoft.com/office/drawing/2014/main" id="{F6E3846A-3BB4-04AD-4F5A-D818408B80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225396" y="819471"/>
            <a:ext cx="5367214" cy="6695464"/>
          </a:xfrm>
          <a:prstGeom prst="rect">
            <a:avLst/>
          </a:prstGeom>
        </p:spPr>
      </p:pic>
      <p:pic>
        <p:nvPicPr>
          <p:cNvPr id="77" name="Imagem 76">
            <a:extLst>
              <a:ext uri="{FF2B5EF4-FFF2-40B4-BE49-F238E27FC236}">
                <a16:creationId xmlns:a16="http://schemas.microsoft.com/office/drawing/2014/main" id="{FCA9EA48-3767-29CF-D158-83EDB3EB46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240" y="40940695"/>
            <a:ext cx="2174293" cy="1742597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20F95890-44CE-2E29-9724-7833BA96623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6008" y="40756395"/>
            <a:ext cx="3938026" cy="1728851"/>
          </a:xfrm>
          <a:prstGeom prst="rect">
            <a:avLst/>
          </a:prstGeom>
        </p:spPr>
      </p:pic>
      <p:pic>
        <p:nvPicPr>
          <p:cNvPr id="83" name="Gráfico 82">
            <a:extLst>
              <a:ext uri="{FF2B5EF4-FFF2-40B4-BE49-F238E27FC236}">
                <a16:creationId xmlns:a16="http://schemas.microsoft.com/office/drawing/2014/main" id="{32B975CE-9F02-827F-7A3C-096EA3DD2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667" t="27700" r="62092" b="28034"/>
          <a:stretch>
            <a:fillRect/>
          </a:stretch>
        </p:blipFill>
        <p:spPr>
          <a:xfrm>
            <a:off x="11645474" y="41090131"/>
            <a:ext cx="3880593" cy="1283862"/>
          </a:xfrm>
          <a:prstGeom prst="rect">
            <a:avLst/>
          </a:prstGeom>
        </p:spPr>
      </p:pic>
      <p:pic>
        <p:nvPicPr>
          <p:cNvPr id="96" name="Gráfico 95">
            <a:extLst>
              <a:ext uri="{FF2B5EF4-FFF2-40B4-BE49-F238E27FC236}">
                <a16:creationId xmlns:a16="http://schemas.microsoft.com/office/drawing/2014/main" id="{8E5CF086-DDD1-836D-BF02-40C6CEA2F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0543975" y="41226871"/>
            <a:ext cx="4136025" cy="1356231"/>
          </a:xfrm>
          <a:prstGeom prst="rect">
            <a:avLst/>
          </a:prstGeom>
        </p:spPr>
      </p:pic>
      <p:pic>
        <p:nvPicPr>
          <p:cNvPr id="102" name="Gráfico 101">
            <a:extLst>
              <a:ext uri="{FF2B5EF4-FFF2-40B4-BE49-F238E27FC236}">
                <a16:creationId xmlns:a16="http://schemas.microsoft.com/office/drawing/2014/main" id="{BBA6F3C8-DDB7-1547-D94F-5A433A17D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55057" y="4925975"/>
            <a:ext cx="12474887" cy="1102460"/>
          </a:xfrm>
          <a:prstGeom prst="rect">
            <a:avLst/>
          </a:prstGeom>
        </p:spPr>
      </p:pic>
      <p:pic>
        <p:nvPicPr>
          <p:cNvPr id="104" name="Gráfico 103">
            <a:extLst>
              <a:ext uri="{FF2B5EF4-FFF2-40B4-BE49-F238E27FC236}">
                <a16:creationId xmlns:a16="http://schemas.microsoft.com/office/drawing/2014/main" id="{42861283-01F7-2799-603C-1D43292846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25143" y="6610978"/>
            <a:ext cx="10334715" cy="667961"/>
          </a:xfrm>
          <a:prstGeom prst="rect">
            <a:avLst/>
          </a:prstGeom>
        </p:spPr>
      </p:pic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9A7E874B-48FD-DEEC-5A19-8887127FF318}"/>
              </a:ext>
            </a:extLst>
          </p:cNvPr>
          <p:cNvSpPr txBox="1"/>
          <p:nvPr/>
        </p:nvSpPr>
        <p:spPr>
          <a:xfrm>
            <a:off x="6336161" y="1108229"/>
            <a:ext cx="19712678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24"/>
              </a:lnSpc>
            </a:pPr>
            <a:r>
              <a:rPr lang="en-US" sz="20000" spc="2800" dirty="0">
                <a:solidFill>
                  <a:srgbClr val="FFFFFF"/>
                </a:solidFill>
                <a:latin typeface="Sunset Hill"/>
                <a:ea typeface="Sunset Hill"/>
                <a:cs typeface="Sunset Hill"/>
                <a:sym typeface="Sunset Hill"/>
              </a:rPr>
              <a:t>XV JACITEC</a:t>
            </a:r>
          </a:p>
        </p:txBody>
      </p:sp>
      <p:sp>
        <p:nvSpPr>
          <p:cNvPr id="113" name="Faixa: o resultado"/>
          <p:cNvSpPr/>
          <p:nvPr/>
        </p:nvSpPr>
        <p:spPr>
          <a:xfrm>
            <a:off x="1026000" y="12600000"/>
            <a:ext cx="29844000" cy="5544000"/>
          </a:xfrm>
          <a:prstGeom prst="roundRect">
            <a:avLst>
              <a:gd name="adj" fmla="val 5194"/>
            </a:avLst>
          </a:prstGeom>
          <a:solidFill>
            <a:srgbClr val="10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ase principal"/>
          <p:cNvSpPr txBox="1"/>
          <p:nvPr/>
        </p:nvSpPr>
        <p:spPr>
          <a:xfrm>
            <a:off x="1602000" y="13104000"/>
            <a:ext cx="13944923" cy="19549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752"/>
              </a:lnSpc>
              <a:spcAft>
                <a:spcPts val="0"/>
              </a:spcAft>
            </a:pPr>
            <a:r>
              <a:rPr sz="4400" b="1" i="0" lang="pt-BR">
                <a:solidFill>
                  <a:srgbClr val="EDEDE8"/>
                </a:solidFill>
                <a:latin typeface="Arial"/>
              </a:rPr>
              <a:t>Duas placas Wi-Fi de baixo custo perceberam cada vez que uma pessoa cruzou entre elas. Até através de uma parede.</a:t>
            </a:r>
          </a:p>
        </p:txBody>
      </p:sp>
      <p:sp>
        <p:nvSpPr>
          <p:cNvPr id="115" name="Como funciona, em uma frase"/>
          <p:cNvSpPr txBox="1"/>
          <p:nvPr/>
        </p:nvSpPr>
        <p:spPr>
          <a:xfrm>
            <a:off x="1602000" y="15220932"/>
            <a:ext cx="13944923" cy="8010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60"/>
              </a:lnSpc>
              <a:spcAft>
                <a:spcPts val="0"/>
              </a:spcAft>
            </a:pPr>
            <a:r>
              <a:rPr sz="2400" b="0" i="0" lang="pt-BR">
                <a:solidFill>
                  <a:srgbClr val="A9A9A2"/>
                </a:solidFill>
                <a:latin typeface="Arial"/>
              </a:rPr>
              <a:t>A placa A envia mensagens Wi-Fi; a placa B mede como cada uma chegou. Quem se mexe muda os caminhos do sinal, e a medida treme. Sem câmera, sem nada preso ao corpo.</a:t>
            </a:r>
          </a:p>
        </p:txBody>
      </p:sp>
      <p:sp>
        <p:nvSpPr>
          <p:cNvPr id="116" name="Número 1"/>
          <p:cNvSpPr txBox="1"/>
          <p:nvPr/>
        </p:nvSpPr>
        <p:spPr>
          <a:xfrm>
            <a:off x="1602000" y="16200000"/>
            <a:ext cx="4468308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400"/>
              </a:lnSpc>
              <a:spcAft>
                <a:spcPts val="0"/>
              </a:spcAft>
            </a:pPr>
            <a:r>
              <a:rPr sz="6400" b="1" i="0" lang="pt-BR">
                <a:solidFill>
                  <a:srgbClr val="FF5C8F"/>
                </a:solidFill>
                <a:latin typeface="Arial"/>
              </a:rPr>
              <a:t>7 de 7</a:t>
            </a:r>
          </a:p>
        </p:txBody>
      </p:sp>
      <p:sp>
        <p:nvSpPr>
          <p:cNvPr id="117" name="Rótulo 1"/>
          <p:cNvSpPr txBox="1"/>
          <p:nvPr/>
        </p:nvSpPr>
        <p:spPr>
          <a:xfrm>
            <a:off x="1602000" y="17100000"/>
            <a:ext cx="4432308" cy="79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92"/>
              </a:lnSpc>
              <a:spcAft>
                <a:spcPts val="0"/>
              </a:spcAft>
            </a:pPr>
            <a:r>
              <a:rPr sz="2400" b="0" i="0" lang="pt-BR">
                <a:solidFill>
                  <a:srgbClr val="EDEDE8"/>
                </a:solidFill>
                <a:latin typeface="Arial"/>
              </a:rPr>
              <a:t>travessias percebidas, a 1,5 m</a:t>
            </a:r>
          </a:p>
        </p:txBody>
      </p:sp>
      <p:sp>
        <p:nvSpPr>
          <p:cNvPr id="118" name="Número 2"/>
          <p:cNvSpPr txBox="1"/>
          <p:nvPr/>
        </p:nvSpPr>
        <p:spPr>
          <a:xfrm>
            <a:off x="6250308" y="16200000"/>
            <a:ext cx="4468308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400"/>
              </a:lnSpc>
              <a:spcAft>
                <a:spcPts val="0"/>
              </a:spcAft>
            </a:pPr>
            <a:r>
              <a:rPr sz="6400" b="1" i="0" lang="pt-BR">
                <a:solidFill>
                  <a:srgbClr val="FF5C8F"/>
                </a:solidFill>
                <a:latin typeface="Arial"/>
              </a:rPr>
              <a:t>5,9×</a:t>
            </a:r>
          </a:p>
        </p:txBody>
      </p:sp>
      <p:sp>
        <p:nvSpPr>
          <p:cNvPr id="119" name="Rótulo 2"/>
          <p:cNvSpPr txBox="1"/>
          <p:nvPr/>
        </p:nvSpPr>
        <p:spPr>
          <a:xfrm>
            <a:off x="6250308" y="17100000"/>
            <a:ext cx="4432308" cy="79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92"/>
              </a:lnSpc>
              <a:spcAft>
                <a:spcPts val="0"/>
              </a:spcAft>
            </a:pPr>
            <a:r>
              <a:rPr sz="2400" b="0" i="0" lang="pt-BR">
                <a:solidFill>
                  <a:srgbClr val="EDEDE8"/>
                </a:solidFill>
                <a:latin typeface="Arial"/>
              </a:rPr>
              <a:t>a oscilação do sinal com a pessoa, comparada à sala vazia</a:t>
            </a:r>
          </a:p>
        </p:txBody>
      </p:sp>
      <p:sp>
        <p:nvSpPr>
          <p:cNvPr id="120" name="Número 3"/>
          <p:cNvSpPr txBox="1"/>
          <p:nvPr/>
        </p:nvSpPr>
        <p:spPr>
          <a:xfrm>
            <a:off x="10898615" y="16200000"/>
            <a:ext cx="4468308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400"/>
              </a:lnSpc>
              <a:spcAft>
                <a:spcPts val="0"/>
              </a:spcAft>
            </a:pPr>
            <a:r>
              <a:rPr sz="6400" b="1" i="0" lang="pt-BR">
                <a:solidFill>
                  <a:srgbClr val="FF5C8F"/>
                </a:solidFill>
                <a:latin typeface="Arial"/>
              </a:rPr>
              <a:t>3,75 m</a:t>
            </a:r>
          </a:p>
        </p:txBody>
      </p:sp>
      <p:sp>
        <p:nvSpPr>
          <p:cNvPr id="121" name="Rótulo 3"/>
          <p:cNvSpPr txBox="1"/>
          <p:nvPr/>
        </p:nvSpPr>
        <p:spPr>
          <a:xfrm>
            <a:off x="10898615" y="17100000"/>
            <a:ext cx="4432308" cy="79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92"/>
              </a:lnSpc>
              <a:spcAft>
                <a:spcPts val="0"/>
              </a:spcAft>
            </a:pPr>
            <a:r>
              <a:rPr sz="2400" b="0" i="0" lang="pt-BR">
                <a:solidFill>
                  <a:srgbClr val="EDEDE8"/>
                </a:solidFill>
                <a:latin typeface="Arial"/>
              </a:rPr>
              <a:t>através de uma parede, sem alarme com a sala vazia</a:t>
            </a:r>
          </a:p>
        </p:txBody>
      </p:sp>
      <p:pic>
        <p:nvPicPr>
          <p:cNvPr id="122" name="Desenho: caminhos" descr="Desenho: placas A e B numa sala; o sinal vai direto e rebatendo no teto e no chão; uma pessoa no meio do caminho.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194923" y="13032000"/>
            <a:ext cx="8123077" cy="4320000"/>
          </a:xfrm>
          <a:prstGeom prst="rect">
            <a:avLst/>
          </a:prstGeom>
        </p:spPr>
      </p:pic>
      <p:sp>
        <p:nvSpPr>
          <p:cNvPr id="123" name="Legenda do desenho"/>
          <p:cNvSpPr txBox="1"/>
          <p:nvPr/>
        </p:nvSpPr>
        <p:spPr>
          <a:xfrm>
            <a:off x="16194923" y="17478000"/>
            <a:ext cx="8123077" cy="4206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sz="2400" b="1" i="0" lang="pt-BR">
                <a:solidFill>
                  <a:srgbClr val="EDEDE8"/>
                </a:solidFill>
                <a:latin typeface="Arial"/>
              </a:rPr>
              <a:t>Figura 1: </a:t>
            </a:r>
            <a:r>
              <a:rPr sz="2400" b="0" i="0" lang="pt-BR">
                <a:solidFill>
                  <a:srgbClr val="A9A9A2"/>
                </a:solidFill>
                <a:latin typeface="Arial"/>
              </a:rPr>
              <a:t>os caminhos do sinal (desenho).</a:t>
            </a:r>
          </a:p>
        </p:txBody>
      </p:sp>
      <p:pic>
        <p:nvPicPr>
          <p:cNvPr id="124" name="Sinal real" descr="Linhas brancas empilhadas sobre fundo preto, medidas pela placa B enquanto uma pessoa cruzava entre as placas: as linhas do meio sobem num relevo alto.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894000" y="13032000"/>
            <a:ext cx="5473789" cy="4320000"/>
          </a:xfrm>
          <a:prstGeom prst="rect">
            <a:avLst/>
          </a:prstGeom>
        </p:spPr>
      </p:pic>
      <p:sp>
        <p:nvSpPr>
          <p:cNvPr id="125" name="Legenda do sinal real"/>
          <p:cNvSpPr txBox="1"/>
          <p:nvPr/>
        </p:nvSpPr>
        <p:spPr>
          <a:xfrm>
            <a:off x="24894000" y="17478000"/>
            <a:ext cx="5472000" cy="4206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sz="2400" b="1" i="0" lang="pt-BR">
                <a:solidFill>
                  <a:srgbClr val="EDEDE8"/>
                </a:solidFill>
                <a:latin typeface="Arial"/>
              </a:rPr>
              <a:t>Figura 2: </a:t>
            </a:r>
            <a:r>
              <a:rPr sz="2400" b="0" i="0" lang="pt-BR">
                <a:solidFill>
                  <a:srgbClr val="A9A9A2"/>
                </a:solidFill>
                <a:latin typeface="Arial"/>
              </a:rPr>
              <a:t>sinal real, pessoa cruzando.</a:t>
            </a:r>
          </a:p>
        </p:txBody>
      </p:sp>
      <p:sp>
        <p:nvSpPr>
          <p:cNvPr id="126" name="Título: INTRODUÇÃO"/>
          <p:cNvSpPr txBox="1"/>
          <p:nvPr/>
        </p:nvSpPr>
        <p:spPr>
          <a:xfrm>
            <a:off x="1026000" y="18612000"/>
            <a:ext cx="14472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  <a:spcAft>
                <a:spcPts val="0"/>
              </a:spcAft>
            </a:pPr>
            <a:r>
              <a:rPr sz="6000" b="1" i="0" lang="pt-BR">
                <a:solidFill>
                  <a:srgbClr val="20284D"/>
                </a:solidFill>
                <a:latin typeface="Arial"/>
              </a:rPr>
              <a:t>INTRODUÇÃO</a:t>
            </a:r>
          </a:p>
        </p:txBody>
      </p:sp>
      <p:sp>
        <p:nvSpPr>
          <p:cNvPr id="127" name="Texto: INTRODUÇÃO"/>
          <p:cNvSpPr txBox="1"/>
          <p:nvPr/>
        </p:nvSpPr>
        <p:spPr>
          <a:xfrm>
            <a:off x="1026000" y="19530000"/>
            <a:ext cx="14472000" cy="38822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2832"/>
              </a:lnSpc>
              <a:spcAft>
                <a:spcPts val="1679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O Wi-Fi está em quase todo lugar e faz mais do que levar internet: o sinal chega por vários caminhos, que se somam, e quem se mexe muda essa soma. O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CSI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 (</a:t>
            </a:r>
            <a:r>
              <a:rPr sz="2400" b="0" i="1" lang="pt-BR">
                <a:solidFill>
                  <a:srgbClr val="141414"/>
                </a:solidFill>
                <a:latin typeface="Arial"/>
              </a:rPr>
              <a:t>Channel State Information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) mede isso em 64 frequências a cada pacote (MA; ZHOU; WANG, 2019). É o sensoriamento por Wi-Fi, que ganhou padrão próprio em 2025 (IEEE, 2025).</a:t>
            </a:r>
          </a:p>
          <a:p>
            <a:pPr algn="just">
              <a:lnSpc>
                <a:spcPts val="2832"/>
              </a:lnSpc>
              <a:spcAft>
                <a:spcPts val="1679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Dá para perceber pessoas sem câmera e sem nada no corpo. Mas até onde funciona, para que serve e quem mais poderia usar?</a:t>
            </a:r>
          </a:p>
          <a:p>
            <a:pPr algn="just">
              <a:lnSpc>
                <a:spcPts val="2832"/>
              </a:lnSpc>
              <a:spcAft>
                <a:spcPts val="0"/>
              </a:spcAft>
            </a:pPr>
            <a:r>
              <a:rPr sz="2400" b="1" i="0" lang="pt-BR">
                <a:solidFill>
                  <a:srgbClr val="141414"/>
                </a:solidFill>
                <a:latin typeface="Arial"/>
              </a:rPr>
              <a:t>Objetivo: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explorar essa tecnologia com duas placas ESP32 de baixo custo: medir o CSI, construir e testar um detector de movimento, inclusive através de parede, e mostrar ao público, ao vivo, o que ela faz, seus usos e seus riscos.</a:t>
            </a:r>
          </a:p>
        </p:txBody>
      </p:sp>
      <p:sp>
        <p:nvSpPr>
          <p:cNvPr id="128" name="Ciência Delas"/>
          <p:cNvSpPr/>
          <p:nvPr/>
        </p:nvSpPr>
        <p:spPr>
          <a:xfrm>
            <a:off x="1026000" y="23664244"/>
            <a:ext cx="14472000" cy="2592000"/>
          </a:xfrm>
          <a:prstGeom prst="roundRect">
            <a:avLst>
              <a:gd name="adj" fmla="val 6944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Retrato de Hedy Lamarr" descr="Retrato de Hedy Lamarr desenhado com linhas horizontais, como as do sinal (de uma foto de 1940, domínio público).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8000" y="23916244"/>
            <a:ext cx="1447680" cy="2088000"/>
          </a:xfrm>
          <a:prstGeom prst="rect">
            <a:avLst/>
          </a:prstGeom>
        </p:spPr>
      </p:pic>
      <p:sp>
        <p:nvSpPr>
          <p:cNvPr id="130" name="Texto: Ciência Delas"/>
          <p:cNvSpPr txBox="1"/>
          <p:nvPr/>
        </p:nvSpPr>
        <p:spPr>
          <a:xfrm>
            <a:off x="3049680" y="24214182"/>
            <a:ext cx="12160320" cy="14921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88"/>
              </a:lnSpc>
              <a:spcAft>
                <a:spcPts val="0"/>
              </a:spcAft>
            </a:pPr>
            <a:r>
              <a:rPr sz="2400" b="1" i="0" lang="pt-BR">
                <a:solidFill>
                  <a:srgbClr val="C8215A"/>
                </a:solidFill>
                <a:latin typeface="Arial"/>
              </a:rPr>
              <a:t>Ciência Delas.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Em 1942, a atriz e inventora Hedy Lamarr patenteou, com George Antheil, o salto de frequência (MARKEY; ANTHEIL, 1942). Espalhar o sinal por várias frequências virou base da comunicação sem fio: o Wi-Fi de hoje usa 64 ao mesmo tempo, e são elas que o Wave Sense lê.</a:t>
            </a:r>
          </a:p>
        </p:txBody>
      </p:sp>
      <p:sp>
        <p:nvSpPr>
          <p:cNvPr id="131" name="Título: MATERIAIS E MÉTODOS"/>
          <p:cNvSpPr txBox="1"/>
          <p:nvPr/>
        </p:nvSpPr>
        <p:spPr>
          <a:xfrm>
            <a:off x="1026000" y="26616244"/>
            <a:ext cx="14472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  <a:spcAft>
                <a:spcPts val="0"/>
              </a:spcAft>
            </a:pPr>
            <a:r>
              <a:rPr sz="6000" b="1" i="0" lang="pt-BR">
                <a:solidFill>
                  <a:srgbClr val="20284D"/>
                </a:solidFill>
                <a:latin typeface="Arial"/>
              </a:rPr>
              <a:t>MATERIAIS E MÉTODOS</a:t>
            </a:r>
          </a:p>
        </p:txBody>
      </p:sp>
      <p:sp>
        <p:nvSpPr>
          <p:cNvPr id="132" name="Texto: MATERIAIS E MÉTODOS"/>
          <p:cNvSpPr txBox="1"/>
          <p:nvPr/>
        </p:nvSpPr>
        <p:spPr>
          <a:xfrm>
            <a:off x="1026000" y="27534244"/>
            <a:ext cx="14472000" cy="-1498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/>
        </p:txBody>
      </p:sp>
      <p:pic>
        <p:nvPicPr>
          <p:cNvPr id="133" name="Desenho: montagem" descr="Desenho: placa A envia pacotes para a placa B, que está ligada por cabo a um notebook mostrando as linhas do sinal.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52080" y="27456349"/>
            <a:ext cx="10419840" cy="3254944"/>
          </a:xfrm>
          <a:prstGeom prst="rect">
            <a:avLst/>
          </a:prstGeom>
        </p:spPr>
      </p:pic>
      <p:sp>
        <p:nvSpPr>
          <p:cNvPr id="134" name="Legenda: montagem"/>
          <p:cNvSpPr txBox="1"/>
          <p:nvPr/>
        </p:nvSpPr>
        <p:spPr>
          <a:xfrm>
            <a:off x="1026000" y="30765294"/>
            <a:ext cx="14472000" cy="40484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520"/>
              </a:lnSpc>
              <a:spcAft>
                <a:spcPts val="0"/>
              </a:spcAft>
            </a:pPr>
            <a:r>
              <a:rPr sz="2400" b="1" i="0" lang="pt-BR">
                <a:solidFill>
                  <a:srgbClr val="555555"/>
                </a:solidFill>
                <a:latin typeface="Arial"/>
              </a:rPr>
              <a:t>Figura 3: </a:t>
            </a:r>
            <a:r>
              <a:rPr sz="2400" b="0" i="0" lang="pt-BR">
                <a:solidFill>
                  <a:srgbClr val="555555"/>
                </a:solidFill>
                <a:latin typeface="Arial"/>
              </a:rPr>
              <a:t>a montagem (desenho).</a:t>
            </a:r>
          </a:p>
        </p:txBody>
      </p:sp>
      <p:sp>
        <p:nvSpPr>
          <p:cNvPr id="135" name="Passo 1"/>
          <p:cNvSpPr txBox="1"/>
          <p:nvPr/>
        </p:nvSpPr>
        <p:spPr>
          <a:xfrm>
            <a:off x="2883254" y="31278135"/>
            <a:ext cx="3672000" cy="1334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640"/>
              </a:lnSpc>
              <a:spcAft>
                <a:spcPts val="240"/>
              </a:spcAft>
            </a:pPr>
            <a:r>
              <a:rPr sz="2400" b="1" i="0" lang="pt-BR">
                <a:solidFill>
                  <a:srgbClr val="C8215A"/>
                </a:solidFill>
                <a:latin typeface="Arial"/>
              </a:rPr>
              <a:t>1  Placa A</a:t>
            </a:r>
          </a:p>
          <a:p>
            <a:pPr algn="ctr">
              <a:lnSpc>
                <a:spcPts val="2640"/>
              </a:lnSpc>
              <a:spcAft>
                <a:spcPts val="0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envia 50 mensagens Wi-Fi por segundo</a:t>
            </a:r>
          </a:p>
        </p:txBody>
      </p:sp>
      <p:sp>
        <p:nvSpPr>
          <p:cNvPr id="136" name="Passo 2"/>
          <p:cNvSpPr txBox="1"/>
          <p:nvPr/>
        </p:nvSpPr>
        <p:spPr>
          <a:xfrm>
            <a:off x="6842794" y="31278135"/>
            <a:ext cx="3672000" cy="1334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640"/>
              </a:lnSpc>
              <a:spcAft>
                <a:spcPts val="240"/>
              </a:spcAft>
            </a:pPr>
            <a:r>
              <a:rPr sz="2400" b="1" i="0" lang="pt-BR">
                <a:solidFill>
                  <a:srgbClr val="C8215A"/>
                </a:solidFill>
                <a:latin typeface="Arial"/>
              </a:rPr>
              <a:t>2  Placa B</a:t>
            </a:r>
          </a:p>
          <a:p>
            <a:pPr algn="ctr">
              <a:lnSpc>
                <a:spcPts val="2640"/>
              </a:lnSpc>
              <a:spcAft>
                <a:spcPts val="0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mede o CSI: 64 subportadoras</a:t>
            </a:r>
          </a:p>
        </p:txBody>
      </p:sp>
      <p:sp>
        <p:nvSpPr>
          <p:cNvPr id="137" name="Passo 3"/>
          <p:cNvSpPr txBox="1"/>
          <p:nvPr/>
        </p:nvSpPr>
        <p:spPr>
          <a:xfrm>
            <a:off x="9968746" y="31278135"/>
            <a:ext cx="3672000" cy="13340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640"/>
              </a:lnSpc>
              <a:spcAft>
                <a:spcPts val="240"/>
              </a:spcAft>
            </a:pPr>
            <a:r>
              <a:rPr sz="2400" b="1" i="0" lang="pt-BR">
                <a:solidFill>
                  <a:srgbClr val="C8215A"/>
                </a:solidFill>
                <a:latin typeface="Arial"/>
              </a:rPr>
              <a:t>3  Notebook</a:t>
            </a:r>
          </a:p>
          <a:p>
            <a:pPr algn="ctr">
              <a:lnSpc>
                <a:spcPts val="2640"/>
              </a:lnSpc>
              <a:spcAft>
                <a:spcPts val="0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decide a cada 0,2 s, ao vivo</a:t>
            </a:r>
          </a:p>
        </p:txBody>
      </p:sp>
      <p:sp>
        <p:nvSpPr>
          <p:cNvPr id="138" name="Texto: métodos"/>
          <p:cNvSpPr txBox="1"/>
          <p:nvPr/>
        </p:nvSpPr>
        <p:spPr>
          <a:xfrm>
            <a:off x="1026000" y="32720209"/>
            <a:ext cx="14472000" cy="350819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2832"/>
              </a:lnSpc>
              <a:spcAft>
                <a:spcPts val="1679"/>
              </a:spcAft>
            </a:pPr>
            <a:r>
              <a:rPr sz="2400" b="1" i="0" lang="pt-BR">
                <a:solidFill>
                  <a:srgbClr val="141414"/>
                </a:solidFill>
                <a:latin typeface="Arial"/>
              </a:rPr>
              <a:t>Detector: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mede a oscilação de cada subportadora no último segundo, com cada pacote no mesmo volume. O limite vem da sala vazia (média + 3 desvios), e “movimento” exige 3 medidas seguidas acima dele, em Python e na demonstração.</a:t>
            </a:r>
          </a:p>
          <a:p>
            <a:pPr algn="just">
              <a:lnSpc>
                <a:spcPts val="2832"/>
              </a:lnSpc>
              <a:spcAft>
                <a:spcPts val="1679"/>
              </a:spcAft>
            </a:pPr>
            <a:r>
              <a:rPr sz="2400" b="1" i="0" lang="pt-BR">
                <a:solidFill>
                  <a:srgbClr val="141414"/>
                </a:solidFill>
                <a:latin typeface="Arial"/>
              </a:rPr>
              <a:t>Ajustes que fizeram funcionar: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a USB não dava conta de 100 pacotes/s (com 50, chegam de 76% a 92%), e o ganho automático fazia a sala vazia oscilar de 0,8 a 4,8; ajustar o volume de cada pacote resolveu.</a:t>
            </a:r>
          </a:p>
          <a:p>
            <a:pPr algn="just">
              <a:lnSpc>
                <a:spcPts val="2832"/>
              </a:lnSpc>
              <a:spcAft>
                <a:spcPts val="0"/>
              </a:spcAft>
            </a:pPr>
            <a:r>
              <a:rPr sz="2400" b="1" i="0" lang="pt-BR">
                <a:solidFill>
                  <a:srgbClr val="141414"/>
                </a:solidFill>
                <a:latin typeface="Arial"/>
              </a:rPr>
              <a:t>Testes: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30 s de sala vazia e 30 s com uma pessoa: a 1,5 m, cruzando a linha entre as placas; a 3,75 m, andando atrás de uma parede.</a:t>
            </a:r>
          </a:p>
        </p:txBody>
      </p:sp>
      <p:sp>
        <p:nvSpPr>
          <p:cNvPr id="139" name="Título: RESULTADOS E DISCUSSÃO"/>
          <p:cNvSpPr txBox="1"/>
          <p:nvPr/>
        </p:nvSpPr>
        <p:spPr>
          <a:xfrm>
            <a:off x="16398000" y="18612000"/>
            <a:ext cx="14472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  <a:spcAft>
                <a:spcPts val="0"/>
              </a:spcAft>
            </a:pPr>
            <a:r>
              <a:rPr sz="6000" b="1" i="0" lang="pt-BR">
                <a:solidFill>
                  <a:srgbClr val="20284D"/>
                </a:solidFill>
                <a:latin typeface="Arial"/>
              </a:rPr>
              <a:t>RESULTADOS E DISCUSSÃO</a:t>
            </a:r>
          </a:p>
        </p:txBody>
      </p:sp>
      <p:sp>
        <p:nvSpPr>
          <p:cNvPr id="140" name="Texto: RESULTADOS E DISCUSSÃO"/>
          <p:cNvSpPr txBox="1"/>
          <p:nvPr/>
        </p:nvSpPr>
        <p:spPr>
          <a:xfrm>
            <a:off x="16398000" y="19530000"/>
            <a:ext cx="14472000" cy="-1498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/>
        </p:txBody>
      </p:sp>
      <p:pic>
        <p:nvPicPr>
          <p:cNvPr id="141" name="Figura: resultado" descr="Dois gráficos de 30 segundos. A 1,5 m, a linha da pessoa sobe acima do limite 7 vezes, numeradas de 1 a 7, até 5,9 vezes a sala vazia. A 3,75 m com parede, a linha da pessoa fica acima do limite quase o tempo todo; a da sala vazia fica abaixo.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398000" y="19272106"/>
            <a:ext cx="14472000" cy="4389149"/>
          </a:xfrm>
          <a:prstGeom prst="rect">
            <a:avLst/>
          </a:prstGeom>
        </p:spPr>
      </p:pic>
      <p:sp>
        <p:nvSpPr>
          <p:cNvPr id="142" name="Legenda: resultado"/>
          <p:cNvSpPr txBox="1"/>
          <p:nvPr/>
        </p:nvSpPr>
        <p:spPr>
          <a:xfrm>
            <a:off x="16398000" y="23823255"/>
            <a:ext cx="14472000" cy="7693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sz="2400" b="1" i="0" lang="pt-BR">
                <a:solidFill>
                  <a:srgbClr val="555555"/>
                </a:solidFill>
                <a:latin typeface="Arial"/>
              </a:rPr>
              <a:t>Figura 4: </a:t>
            </a:r>
            <a:r>
              <a:rPr sz="2400" b="0" i="0" lang="pt-BR">
                <a:solidFill>
                  <a:srgbClr val="555555"/>
                </a:solidFill>
                <a:latin typeface="Arial"/>
              </a:rPr>
              <a:t>oscilação medida nos testes, em vezes a da sala vazia; em rosa, onde o detector disse “movimento”.</a:t>
            </a:r>
          </a:p>
        </p:txBody>
      </p:sp>
      <p:sp>
        <p:nvSpPr>
          <p:cNvPr id="143" name="Texto: resultados"/>
          <p:cNvSpPr txBox="1"/>
          <p:nvPr/>
        </p:nvSpPr>
        <p:spPr>
          <a:xfrm>
            <a:off x="16398000" y="24808637"/>
            <a:ext cx="14472000" cy="21641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2832"/>
              </a:lnSpc>
              <a:spcAft>
                <a:spcPts val="1679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A cada travessia, o sinal subiu até 5,9 vezes o nível da sala vazia, e o detector marcou as 7; a sala vazia deu 2 alarmes curtos em 30 s. Através da parede, a pessoa andando foi percebida quase o tempo todo, sem alarme com a sala vazia.</a:t>
            </a:r>
          </a:p>
          <a:p>
            <a:pPr algn="just">
              <a:lnSpc>
                <a:spcPts val="2832"/>
              </a:lnSpc>
              <a:spcAft>
                <a:spcPts val="0"/>
              </a:spcAft>
            </a:pPr>
            <a:r>
              <a:rPr sz="2400" b="1" i="0" lang="pt-BR">
                <a:solidFill>
                  <a:srgbClr val="141414"/>
                </a:solidFill>
                <a:latin typeface="Arial"/>
              </a:rPr>
              <a:t>O que aprendemos sobre a tecnologia: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ela percebe movimento, não presença (quem fica parado não muda a soma), e atravessa paredes: útil e também um risco à privacidade.</a:t>
            </a:r>
          </a:p>
        </p:txBody>
      </p:sp>
      <p:sp>
        <p:nvSpPr>
          <p:cNvPr id="144" name="Título: para que serve"/>
          <p:cNvSpPr txBox="1"/>
          <p:nvPr/>
        </p:nvSpPr>
        <p:spPr>
          <a:xfrm>
            <a:off x="16398000" y="27260784"/>
            <a:ext cx="14472000" cy="600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000"/>
              </a:lnSpc>
              <a:spcAft>
                <a:spcPts val="0"/>
              </a:spcAft>
            </a:pPr>
            <a:r>
              <a:rPr sz="4000" b="1" i="0" lang="pt-BR">
                <a:solidFill>
                  <a:srgbClr val="20284D"/>
                </a:solidFill>
                <a:latin typeface="Arial"/>
              </a:rPr>
              <a:t>Para que serve</a:t>
            </a:r>
          </a:p>
        </p:txBody>
      </p:sp>
      <p:sp>
        <p:nvSpPr>
          <p:cNvPr id="145" name="Fundo: Quem mora sozinho"/>
          <p:cNvSpPr/>
          <p:nvPr/>
        </p:nvSpPr>
        <p:spPr>
          <a:xfrm>
            <a:off x="16398000" y="27969104"/>
            <a:ext cx="7056000" cy="2880000"/>
          </a:xfrm>
          <a:prstGeom prst="roundRect">
            <a:avLst>
              <a:gd name="adj" fmla="val 5000"/>
            </a:avLst>
          </a:prstGeom>
          <a:solidFill>
            <a:srgbClr val="10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Desenho: Quem mora sozinho" descr="Ilustração de dois dias numa linha do tempo: ontem, movimentos desde as 6h40; hoje, nenhum movimento até as 10h e um aviso para o celular da família.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510640" y="28077104"/>
            <a:ext cx="4830720" cy="2664000"/>
          </a:xfrm>
          <a:prstGeom prst="rect">
            <a:avLst/>
          </a:prstGeom>
        </p:spPr>
      </p:pic>
      <p:sp>
        <p:nvSpPr>
          <p:cNvPr id="147" name="Fundo: Escombros"/>
          <p:cNvSpPr/>
          <p:nvPr/>
        </p:nvSpPr>
        <p:spPr>
          <a:xfrm>
            <a:off x="23814000" y="27969104"/>
            <a:ext cx="7056000" cy="2880000"/>
          </a:xfrm>
          <a:prstGeom prst="roundRect">
            <a:avLst>
              <a:gd name="adj" fmla="val 5000"/>
            </a:avLst>
          </a:prstGeom>
          <a:solidFill>
            <a:srgbClr val="10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Desenho: Escombros" descr="Ilustração de uma pessoa deitada num vão entre lajes caídas, entre as placas A e B, com ondinhas de respiração saindo do peito.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922000" y="28156009"/>
            <a:ext cx="6840000" cy="2506190"/>
          </a:xfrm>
          <a:prstGeom prst="rect">
            <a:avLst/>
          </a:prstGeom>
        </p:spPr>
      </p:pic>
      <p:sp>
        <p:nvSpPr>
          <p:cNvPr id="149" name="Texto: Quem mora sozinho"/>
          <p:cNvSpPr txBox="1"/>
          <p:nvPr/>
        </p:nvSpPr>
        <p:spPr>
          <a:xfrm>
            <a:off x="16398000" y="30975104"/>
            <a:ext cx="7056000" cy="14667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sz="2400" b="1" i="0" lang="pt-BR">
                <a:solidFill>
                  <a:srgbClr val="C8215A"/>
                </a:solidFill>
                <a:latin typeface="Arial"/>
              </a:rPr>
              <a:t>Figura 5: Quem mora sozinho.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No Brasil, 5,7 milhões de idosos moram sozinhos (IBGE, 2024). Se até as 10h ninguém se mexeu, a casa avisa a família.</a:t>
            </a:r>
          </a:p>
        </p:txBody>
      </p:sp>
      <p:sp>
        <p:nvSpPr>
          <p:cNvPr id="150" name="Texto: Escombros"/>
          <p:cNvSpPr txBox="1"/>
          <p:nvPr/>
        </p:nvSpPr>
        <p:spPr>
          <a:xfrm>
            <a:off x="23814000" y="30975104"/>
            <a:ext cx="7056000" cy="146676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40"/>
              </a:lnSpc>
              <a:spcAft>
                <a:spcPts val="0"/>
              </a:spcAft>
            </a:pPr>
            <a:r>
              <a:rPr sz="2400" b="1" i="0" lang="pt-BR">
                <a:solidFill>
                  <a:srgbClr val="C8215A"/>
                </a:solidFill>
                <a:latin typeface="Arial"/>
              </a:rPr>
              <a:t>Figura 6: Escombros.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Um radar da NASA achou 4 pessoas vivas sob os escombros no Nepal, em 2015, pelos sinais vitais (NASA JPL, 2015). Queremos tentar com placas baratas.</a:t>
            </a:r>
          </a:p>
        </p:txBody>
      </p:sp>
      <p:sp>
        <p:nvSpPr>
          <p:cNvPr id="151" name="Título: CONCLUSÃO"/>
          <p:cNvSpPr txBox="1"/>
          <p:nvPr/>
        </p:nvSpPr>
        <p:spPr>
          <a:xfrm>
            <a:off x="16398000" y="32801869"/>
            <a:ext cx="14472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000"/>
              </a:lnSpc>
              <a:spcAft>
                <a:spcPts val="0"/>
              </a:spcAft>
            </a:pPr>
            <a:r>
              <a:rPr sz="6000" b="1" i="0" lang="pt-BR">
                <a:solidFill>
                  <a:srgbClr val="20284D"/>
                </a:solidFill>
                <a:latin typeface="Arial"/>
              </a:rPr>
              <a:t>CONCLUSÃO</a:t>
            </a:r>
          </a:p>
        </p:txBody>
      </p:sp>
      <p:sp>
        <p:nvSpPr>
          <p:cNvPr id="152" name="Texto: CONCLUSÃO"/>
          <p:cNvSpPr txBox="1"/>
          <p:nvPr/>
        </p:nvSpPr>
        <p:spPr>
          <a:xfrm>
            <a:off x="16398000" y="33719869"/>
            <a:ext cx="14472000" cy="253819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2832"/>
              </a:lnSpc>
              <a:spcAft>
                <a:spcPts val="1679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Duas placas ESP32 e programas abertos perceberam movimento humano sem câmera, até através de parede, ao vivo no estande. E a tecnologia já chega às casas: nos EUA, uma operadora oferece isso no roteador, e os dados podem ir para a polícia com ordem judicial (BLEEPINGCOMPUTER, 2026).</a:t>
            </a:r>
          </a:p>
          <a:p>
            <a:pPr algn="just">
              <a:lnSpc>
                <a:spcPts val="2832"/>
              </a:lnSpc>
              <a:spcAft>
                <a:spcPts val="0"/>
              </a:spcAft>
            </a:pPr>
            <a:r>
              <a:rPr sz="2400" b="1" i="0" lang="pt-BR">
                <a:solidFill>
                  <a:srgbClr val="141414"/>
                </a:solidFill>
                <a:latin typeface="Arial"/>
              </a:rPr>
              <a:t>Próximos passos: 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medir a respiração, que a mesma placa já captou (BURIMAS et al., 2024), e a taxa de acerto, em novas sessões. Defendemos consentimento e dados que não saem de casa, como no Wave Sense.</a:t>
            </a:r>
          </a:p>
        </p:txBody>
      </p:sp>
      <p:sp>
        <p:nvSpPr>
          <p:cNvPr id="153" name="Título: REFERÊNCIAS"/>
          <p:cNvSpPr txBox="1"/>
          <p:nvPr/>
        </p:nvSpPr>
        <p:spPr>
          <a:xfrm>
            <a:off x="1026000" y="36618067"/>
            <a:ext cx="29844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000"/>
              </a:lnSpc>
              <a:spcAft>
                <a:spcPts val="0"/>
              </a:spcAft>
            </a:pPr>
            <a:r>
              <a:rPr sz="4000" b="1" i="0" lang="pt-BR">
                <a:solidFill>
                  <a:srgbClr val="20284D"/>
                </a:solidFill>
                <a:latin typeface="Arial"/>
              </a:rPr>
              <a:t>REFERÊNCIAS</a:t>
            </a:r>
          </a:p>
        </p:txBody>
      </p:sp>
      <p:sp>
        <p:nvSpPr>
          <p:cNvPr id="154" name="Referências 1"/>
          <p:cNvSpPr txBox="1"/>
          <p:nvPr/>
        </p:nvSpPr>
        <p:spPr>
          <a:xfrm>
            <a:off x="1026000" y="37266067"/>
            <a:ext cx="14472000" cy="29629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Aft>
                <a:spcPts val="576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BLEEPINGCOMPUTER.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Comcast turns your Xfinity WiFi into a home motion detector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. 2026. Disponível em: https://www.bleepingcomputer.com. Acesso em: 16 out. 2026.</a:t>
            </a:r>
          </a:p>
          <a:p>
            <a:pPr algn="l">
              <a:lnSpc>
                <a:spcPts val="2520"/>
              </a:lnSpc>
              <a:spcAft>
                <a:spcPts val="576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BURIMAS, D. et al. Monitoring the sleep respiratory rate with low-cost microcontroller Wi-Fi in a controlled environment.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Applied Sciences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, v. 14, n. 15, 6458, 2024.</a:t>
            </a:r>
          </a:p>
          <a:p>
            <a:pPr algn="l">
              <a:lnSpc>
                <a:spcPts val="2520"/>
              </a:lnSpc>
              <a:spcAft>
                <a:spcPts val="576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ESPRESSIF SYSTEMS.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ESP-CSI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. 2026. Disponível em: https://github.com/espressif/esp-csi. Acesso em: 15 out. 2026.</a:t>
            </a:r>
          </a:p>
          <a:p>
            <a:pPr algn="l">
              <a:lnSpc>
                <a:spcPts val="2520"/>
              </a:lnSpc>
              <a:spcAft>
                <a:spcPts val="0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IBGE.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Censo Demográfico 2022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: composição domiciliar e óbitos informados. Rio de Janeiro: IBGE, 2024.</a:t>
            </a:r>
          </a:p>
        </p:txBody>
      </p:sp>
      <p:sp>
        <p:nvSpPr>
          <p:cNvPr id="155" name="Referências 2"/>
          <p:cNvSpPr txBox="1"/>
          <p:nvPr/>
        </p:nvSpPr>
        <p:spPr>
          <a:xfrm>
            <a:off x="16398000" y="37266067"/>
            <a:ext cx="14472000" cy="196444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20"/>
              </a:lnSpc>
              <a:spcAft>
                <a:spcPts val="576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IEEE.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IEEE 802.11bf-2025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: WLAN sensing. Nova York: IEEE, 2025.</a:t>
            </a:r>
          </a:p>
          <a:p>
            <a:pPr algn="l">
              <a:lnSpc>
                <a:spcPts val="2520"/>
              </a:lnSpc>
              <a:spcAft>
                <a:spcPts val="576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MA, Y.; ZHOU, G.; WANG, S. WiFi sensing with channel state information: a survey.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ACM Computing Surveys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, v. 52, n. 3, 2019.</a:t>
            </a:r>
          </a:p>
          <a:p>
            <a:pPr algn="l">
              <a:lnSpc>
                <a:spcPts val="2520"/>
              </a:lnSpc>
              <a:spcAft>
                <a:spcPts val="576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MARKEY, H. K.; ANTHEIL, G.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Secret communication system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. Patente US 2.292.387, 1942.</a:t>
            </a:r>
          </a:p>
          <a:p>
            <a:pPr algn="l">
              <a:lnSpc>
                <a:spcPts val="2520"/>
              </a:lnSpc>
              <a:spcAft>
                <a:spcPts val="0"/>
              </a:spcAft>
            </a:pPr>
            <a:r>
              <a:rPr sz="2400" b="0" i="0" lang="pt-BR">
                <a:solidFill>
                  <a:srgbClr val="141414"/>
                </a:solidFill>
                <a:latin typeface="Arial"/>
              </a:rPr>
              <a:t>NASA JPL. </a:t>
            </a:r>
            <a:r>
              <a:rPr sz="2400" b="1" i="0" lang="pt-BR">
                <a:solidFill>
                  <a:srgbClr val="141414"/>
                </a:solidFill>
                <a:latin typeface="Arial"/>
              </a:rPr>
              <a:t>FINDER</a:t>
            </a:r>
            <a:r>
              <a:rPr sz="2400" b="0" i="0" lang="pt-BR">
                <a:solidFill>
                  <a:srgbClr val="141414"/>
                </a:solidFill>
                <a:latin typeface="Arial"/>
              </a:rPr>
              <a:t>: Finding Individuals for Disaster and Emergency Response. Pasadena: JPL, 2015.</a:t>
            </a:r>
          </a:p>
        </p:txBody>
      </p:sp>
      <p:sp>
        <p:nvSpPr>
          <p:cNvPr id="156" name="Uso de IA"/>
          <p:cNvSpPr txBox="1"/>
          <p:nvPr/>
        </p:nvSpPr>
        <p:spPr>
          <a:xfrm>
            <a:off x="16398000" y="39356509"/>
            <a:ext cx="14472000" cy="75670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92"/>
              </a:lnSpc>
              <a:spcAft>
                <a:spcPts val="0"/>
              </a:spcAft>
            </a:pPr>
            <a:r>
              <a:rPr sz="2400" b="0" i="1" lang="pt-BR">
                <a:solidFill>
                  <a:srgbClr val="555555"/>
                </a:solidFill>
                <a:latin typeface="Arial"/>
              </a:rPr>
              <a:t>Uso de inteligência artificial: o assistente Claude (Anthropic) apoiou a escrita de código e de textos. Tudo foi revisado e testado pela equipe, e os dados foram medidos por nós.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1050</Words>
  <Application>Microsoft Office PowerPoint</Application>
  <PresentationFormat>Personalizar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10" baseType="lpstr">
      <vt:lpstr>Arial MT Pro</vt:lpstr>
      <vt:lpstr>Arial MT Pro Bold</vt:lpstr>
      <vt:lpstr>TT Rounds Condensed Bold</vt:lpstr>
      <vt:lpstr>Sunset Hill</vt:lpstr>
      <vt:lpstr>Open Sans Bold</vt:lpstr>
      <vt:lpstr>Arial</vt:lpstr>
      <vt:lpstr>TT Rounds Condensed</vt:lpstr>
      <vt:lpstr>Calibri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último ppt (1).pptx</dc:title>
  <cp:lastModifiedBy>Marcos Lopes Ribeiro</cp:lastModifiedBy>
  <cp:revision>11</cp:revision>
  <dcterms:created xsi:type="dcterms:W3CDTF">2006-08-16T00:00:00Z</dcterms:created>
  <dcterms:modified xsi:type="dcterms:W3CDTF">2026-10-07T19:39:43Z</dcterms:modified>
  <dc:identifier>DAGSdtYesm4</dc:identifier>
</cp:coreProperties>
</file>