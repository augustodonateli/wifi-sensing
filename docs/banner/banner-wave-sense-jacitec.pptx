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"/>
  </p:notesMasterIdLst>
  <p:sldIdLst>
    <p:sldId id="256" r:id="rId2"/>
  </p:sldIdLst>
  <p:sldSz cx="32385000" cy="43205400"/>
  <p:notesSz cx="6858000" cy="9144000"/>
  <p:embeddedFontLst>
    <p:embeddedFont>
      <p:font typeface="Arial MT Pro" panose="020B0604020202020204" charset="0"/>
      <p:regular r:id="rId4"/>
    </p:embeddedFont>
    <p:embeddedFont>
      <p:font typeface="Arial MT Pro Bold" panose="020B0604020202020204" charset="0"/>
      <p:regular r:id="rId5"/>
    </p:embeddedFont>
    <p:embeddedFont>
      <p:font typeface="Open Sans Bold" panose="020B0604020202020204" charset="0"/>
      <p:regular r:id="rId6"/>
      <p:bold r:id="rId7"/>
    </p:embeddedFont>
    <p:embeddedFont>
      <p:font typeface="Sunset Hill" pitchFamily="50" charset="0"/>
      <p:regular r:id="rId8"/>
    </p:embeddedFont>
    <p:embeddedFont>
      <p:font typeface="TT Rounds Condensed" panose="020B0604020202020204" charset="0"/>
      <p:regular r:id="rId9"/>
    </p:embeddedFont>
    <p:embeddedFont>
      <p:font typeface="TT Rounds Condensed 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745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5101" autoAdjust="0"/>
  </p:normalViewPr>
  <p:slideViewPr>
    <p:cSldViewPr>
      <p:cViewPr>
        <p:scale>
          <a:sx n="25" d="100"/>
          <a:sy n="25" d="100"/>
        </p:scale>
        <p:origin x="1638" y="1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font" Target="fonts/font1.fntdata"/><Relationship Id="rId5" Type="http://schemas.openxmlformats.org/officeDocument/2006/relationships/font" Target="fonts/font2.fntdata"/><Relationship Id="rId6" Type="http://schemas.openxmlformats.org/officeDocument/2006/relationships/font" Target="fonts/font3.fntdata"/><Relationship Id="rId7" Type="http://schemas.openxmlformats.org/officeDocument/2006/relationships/font" Target="fonts/font4.fntdata"/><Relationship Id="rId8" Type="http://schemas.openxmlformats.org/officeDocument/2006/relationships/font" Target="fonts/font5.fntdata"/><Relationship Id="rId9" Type="http://schemas.openxmlformats.org/officeDocument/2006/relationships/font" Target="fonts/font6.fntdata"/><Relationship Id="rId10" Type="http://schemas.openxmlformats.org/officeDocument/2006/relationships/font" Target="fonts/font7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07.10.2026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609975" y="512763"/>
            <a:ext cx="192405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svg"/><Relationship Id="rId4" Type="http://schemas.openxmlformats.org/officeDocument/2006/relationships/image" Target="../media/image2.png"/><Relationship Id="rId5" Type="http://schemas.openxmlformats.org/officeDocument/2006/relationships/image" Target="../media/image3.svg"/><Relationship Id="rId6" Type="http://schemas.openxmlformats.org/officeDocument/2006/relationships/image" Target="../media/image4.jpe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svg"/><Relationship Id="rId12" Type="http://schemas.openxmlformats.org/officeDocument/2006/relationships/image" Target="../media/image10.svg"/><Relationship Id="rId13" Type="http://schemas.openxmlformats.org/officeDocument/2006/relationships/image" Target="../media/image11.svg"/><Relationship Id="rId14" Type="http://schemas.openxmlformats.org/officeDocument/2006/relationships/image" Target="../media/image12.svg"/><Relationship Id="rId15" Type="http://schemas.openxmlformats.org/officeDocument/2006/relationships/image" Target="../media/image13.png"/><Relationship Id="rId16" Type="http://schemas.openxmlformats.org/officeDocument/2006/relationships/image" Target="../media/image14.png"/><Relationship Id="rId17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2394525" cy="8056068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5759"/>
              </a:lnSpc>
            </a:pPr>
            <a:endParaRPr/>
          </a:p>
        </p:txBody>
      </p:sp>
      <p:sp>
        <p:nvSpPr>
          <p:cNvPr id="8" name="TextBox 8"/>
          <p:cNvSpPr txBox="1"/>
          <p:nvPr/>
        </p:nvSpPr>
        <p:spPr>
          <a:xfrm>
            <a:off x="2907720" y="10440000"/>
            <a:ext cx="26679600" cy="1797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lang="pt-BR" sz="4000" b="1" spc="36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[Autor(a) 1], [Autor(a) 2] e [Autor(a) 3] · Orientação: [Professor(a)]</a:t>
            </a:r>
          </a:p>
          <a:p>
            <a:pPr algn="ctr">
              <a:lnSpc>
                <a:spcPts val="3600"/>
              </a:lnSpc>
            </a:pPr>
            <a:r>
              <a:rPr lang="pt-BR" sz="3000" spc="36" b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[Nome da escola] – [Cidade], ES</a:t>
            </a:r>
          </a:p>
        </p:txBody>
      </p:sp>
      <p:grpSp>
        <p:nvGrpSpPr>
          <p:cNvPr id="9" name="Group 9"/>
          <p:cNvGrpSpPr>
            <a:grpSpLocks noGrp="1" noUngrp="1" noRot="1" noMove="1" noResize="1"/>
          </p:cNvGrpSpPr>
          <p:nvPr/>
        </p:nvGrpSpPr>
        <p:grpSpPr>
          <a:xfrm>
            <a:off x="987300" y="12233340"/>
            <a:ext cx="29905560" cy="12960"/>
            <a:chOff x="0" y="0"/>
            <a:chExt cx="39874080" cy="17280"/>
          </a:xfrm>
        </p:grpSpPr>
        <p:sp>
          <p:nvSpPr>
            <p:cNvPr id="10" name="Freeform 10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8382" y="0"/>
              <a:ext cx="39857299" cy="17272"/>
            </a:xfrm>
            <a:custGeom>
              <a:avLst/>
              <a:gdLst/>
              <a:ahLst/>
              <a:cxnLst/>
              <a:rect l="l" t="t" r="r" b="b"/>
              <a:pathLst>
                <a:path w="39857299" h="17272">
                  <a:moveTo>
                    <a:pt x="0" y="0"/>
                  </a:moveTo>
                  <a:lnTo>
                    <a:pt x="39857299" y="508"/>
                  </a:lnTo>
                  <a:lnTo>
                    <a:pt x="39857299" y="17272"/>
                  </a:lnTo>
                  <a:lnTo>
                    <a:pt x="0" y="1676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40000" y="8604000"/>
            <a:ext cx="29520000" cy="1827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360"/>
              </a:lnSpc>
            </a:pPr>
            <a:r>
              <a:rPr lang="pt-BR" sz="6000" b="1" spc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WAVE SENSE: DETECÇÃO DE MOVIMENTO HUMANO SEM CÂMERAS USANDO SINAIS WI-FI E ESP32</a:t>
            </a:r>
          </a:p>
        </p:txBody>
      </p:sp>
      <p:pic>
        <p:nvPicPr>
          <p:cNvPr id="45" name="Gráfico 44">
            <a:extLst>
              <a:ext uri="{FF2B5EF4-FFF2-40B4-BE49-F238E27FC236}">
                <a16:creationId xmlns:a16="http://schemas.microsoft.com/office/drawing/2014/main" id="{6057106C-5C78-61D5-E217-0B6EF81301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527811" y="41033700"/>
            <a:ext cx="6863488" cy="1649877"/>
          </a:xfrm>
          <a:prstGeom prst="rect">
            <a:avLst/>
          </a:prstGeom>
        </p:spPr>
      </p:pic>
      <p:pic>
        <p:nvPicPr>
          <p:cNvPr id="53" name="Imagem 52">
            <a:extLst>
              <a:ext uri="{FF2B5EF4-FFF2-40B4-BE49-F238E27FC236}">
                <a16:creationId xmlns:a16="http://schemas.microsoft.com/office/drawing/2014/main" id="{5A6A52B4-AD40-6063-FBBD-ED34CA7626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5372"/>
          <a:stretch>
            <a:fillRect/>
          </a:stretch>
        </p:blipFill>
        <p:spPr>
          <a:xfrm>
            <a:off x="25219943" y="41033841"/>
            <a:ext cx="1916567" cy="1649593"/>
          </a:xfrm>
          <a:prstGeom prst="rect">
            <a:avLst/>
          </a:prstGeom>
        </p:spPr>
      </p:pic>
      <p:pic>
        <p:nvPicPr>
          <p:cNvPr id="60" name="Gráfico 59">
            <a:extLst>
              <a:ext uri="{FF2B5EF4-FFF2-40B4-BE49-F238E27FC236}">
                <a16:creationId xmlns:a16="http://schemas.microsoft.com/office/drawing/2014/main" id="{36FDE24A-1046-316B-F4B6-A9EADF1CFF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230406" y="41132941"/>
            <a:ext cx="3886200" cy="1451393"/>
          </a:xfrm>
          <a:prstGeom prst="rect">
            <a:avLst/>
          </a:prstGeom>
        </p:spPr>
      </p:pic>
      <p:pic>
        <p:nvPicPr>
          <p:cNvPr id="73" name="Imagem 72">
            <a:extLst>
              <a:ext uri="{FF2B5EF4-FFF2-40B4-BE49-F238E27FC236}">
                <a16:creationId xmlns:a16="http://schemas.microsoft.com/office/drawing/2014/main" id="{D8F896D6-D168-06BE-EA43-C7D31A1218E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" r="3"/>
          <a:stretch/>
        </p:blipFill>
        <p:spPr>
          <a:xfrm>
            <a:off x="-30506" y="-1"/>
            <a:ext cx="32455538" cy="8048119"/>
          </a:xfrm>
          <a:prstGeom prst="rect">
            <a:avLst/>
          </a:prstGeom>
        </p:spPr>
      </p:pic>
      <p:pic>
        <p:nvPicPr>
          <p:cNvPr id="65" name="Imagem 64">
            <a:extLst>
              <a:ext uri="{FF2B5EF4-FFF2-40B4-BE49-F238E27FC236}">
                <a16:creationId xmlns:a16="http://schemas.microsoft.com/office/drawing/2014/main" id="{832465D3-E4A3-4BF6-8294-B46081576971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82" t="11828" r="11618" b="11868"/>
          <a:stretch>
            <a:fillRect/>
          </a:stretch>
        </p:blipFill>
        <p:spPr>
          <a:xfrm>
            <a:off x="616974" y="1284347"/>
            <a:ext cx="6248400" cy="6230588"/>
          </a:xfrm>
          <a:prstGeom prst="rect">
            <a:avLst/>
          </a:prstGeom>
        </p:spPr>
      </p:pic>
      <p:pic>
        <p:nvPicPr>
          <p:cNvPr id="67" name="Gráfico 66">
            <a:extLst>
              <a:ext uri="{FF2B5EF4-FFF2-40B4-BE49-F238E27FC236}">
                <a16:creationId xmlns:a16="http://schemas.microsoft.com/office/drawing/2014/main" id="{F6E3846A-3BB4-04AD-4F5A-D818408B80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225396" y="819471"/>
            <a:ext cx="5367214" cy="6695464"/>
          </a:xfrm>
          <a:prstGeom prst="rect">
            <a:avLst/>
          </a:prstGeom>
        </p:spPr>
      </p:pic>
      <p:pic>
        <p:nvPicPr>
          <p:cNvPr id="77" name="Imagem 76">
            <a:extLst>
              <a:ext uri="{FF2B5EF4-FFF2-40B4-BE49-F238E27FC236}">
                <a16:creationId xmlns:a16="http://schemas.microsoft.com/office/drawing/2014/main" id="{FCA9EA48-3767-29CF-D158-83EDB3EB4690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1240" y="40940695"/>
            <a:ext cx="2174293" cy="1742597"/>
          </a:xfrm>
          <a:prstGeom prst="rect">
            <a:avLst/>
          </a:prstGeom>
        </p:spPr>
      </p:pic>
      <p:pic>
        <p:nvPicPr>
          <p:cNvPr id="81" name="Imagem 80">
            <a:extLst>
              <a:ext uri="{FF2B5EF4-FFF2-40B4-BE49-F238E27FC236}">
                <a16:creationId xmlns:a16="http://schemas.microsoft.com/office/drawing/2014/main" id="{20F95890-44CE-2E29-9724-7833BA96623C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66008" y="40756395"/>
            <a:ext cx="3938026" cy="1728851"/>
          </a:xfrm>
          <a:prstGeom prst="rect">
            <a:avLst/>
          </a:prstGeom>
        </p:spPr>
      </p:pic>
      <p:pic>
        <p:nvPicPr>
          <p:cNvPr id="83" name="Gráfico 82">
            <a:extLst>
              <a:ext uri="{FF2B5EF4-FFF2-40B4-BE49-F238E27FC236}">
                <a16:creationId xmlns:a16="http://schemas.microsoft.com/office/drawing/2014/main" id="{32B975CE-9F02-827F-7A3C-096EA3DD22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 l="5667" t="27700" r="62092" b="28034"/>
          <a:stretch>
            <a:fillRect/>
          </a:stretch>
        </p:blipFill>
        <p:spPr>
          <a:xfrm>
            <a:off x="11645474" y="41090131"/>
            <a:ext cx="3880593" cy="1283862"/>
          </a:xfrm>
          <a:prstGeom prst="rect">
            <a:avLst/>
          </a:prstGeom>
        </p:spPr>
      </p:pic>
      <p:pic>
        <p:nvPicPr>
          <p:cNvPr id="96" name="Gráfico 95">
            <a:extLst>
              <a:ext uri="{FF2B5EF4-FFF2-40B4-BE49-F238E27FC236}">
                <a16:creationId xmlns:a16="http://schemas.microsoft.com/office/drawing/2014/main" id="{8E5CF086-DDD1-836D-BF02-40C6CEA2F5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/>
        </p:blipFill>
        <p:spPr>
          <a:xfrm>
            <a:off x="20543975" y="41226871"/>
            <a:ext cx="4136025" cy="1356231"/>
          </a:xfrm>
          <a:prstGeom prst="rect">
            <a:avLst/>
          </a:prstGeom>
        </p:spPr>
      </p:pic>
      <p:pic>
        <p:nvPicPr>
          <p:cNvPr id="102" name="Gráfico 101">
            <a:extLst>
              <a:ext uri="{FF2B5EF4-FFF2-40B4-BE49-F238E27FC236}">
                <a16:creationId xmlns:a16="http://schemas.microsoft.com/office/drawing/2014/main" id="{BBA6F3C8-DDB7-1547-D94F-5A433A17DC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955057" y="4925975"/>
            <a:ext cx="12474887" cy="1102460"/>
          </a:xfrm>
          <a:prstGeom prst="rect">
            <a:avLst/>
          </a:prstGeom>
        </p:spPr>
      </p:pic>
      <p:pic>
        <p:nvPicPr>
          <p:cNvPr id="104" name="Gráfico 103">
            <a:extLst>
              <a:ext uri="{FF2B5EF4-FFF2-40B4-BE49-F238E27FC236}">
                <a16:creationId xmlns:a16="http://schemas.microsoft.com/office/drawing/2014/main" id="{42861283-01F7-2799-603C-1D43292846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1025143" y="6610978"/>
            <a:ext cx="10334715" cy="667961"/>
          </a:xfrm>
          <a:prstGeom prst="rect">
            <a:avLst/>
          </a:prstGeom>
        </p:spPr>
      </p:pic>
      <p:sp>
        <p:nvSpPr>
          <p:cNvPr id="112" name="CaixaDeTexto 111">
            <a:extLst>
              <a:ext uri="{FF2B5EF4-FFF2-40B4-BE49-F238E27FC236}">
                <a16:creationId xmlns:a16="http://schemas.microsoft.com/office/drawing/2014/main" id="{9A7E874B-48FD-DEEC-5A19-8887127FF318}"/>
              </a:ext>
            </a:extLst>
          </p:cNvPr>
          <p:cNvSpPr txBox="1"/>
          <p:nvPr/>
        </p:nvSpPr>
        <p:spPr>
          <a:xfrm>
            <a:off x="6336161" y="1108229"/>
            <a:ext cx="19712678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24"/>
              </a:lnSpc>
            </a:pPr>
            <a:r>
              <a:rPr lang="en-US" sz="20000" spc="2800" dirty="0">
                <a:solidFill>
                  <a:srgbClr val="FFFFFF"/>
                </a:solidFill>
                <a:latin typeface="Sunset Hill"/>
                <a:ea typeface="Sunset Hill"/>
                <a:cs typeface="Sunset Hill"/>
                <a:sym typeface="Sunset Hill"/>
              </a:rPr>
              <a:t>XV JACITEC</a:t>
            </a:r>
          </a:p>
        </p:txBody>
      </p:sp>
      <p:sp>
        <p:nvSpPr>
          <p:cNvPr id="113" name="Título: INTRODUÇÃO"/>
          <p:cNvSpPr txBox="1"/>
          <p:nvPr/>
        </p:nvSpPr>
        <p:spPr>
          <a:xfrm>
            <a:off x="1026000" y="12600000"/>
            <a:ext cx="1465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INTRODUÇÃO</a:t>
            </a:r>
          </a:p>
        </p:txBody>
      </p:sp>
      <p:sp>
        <p:nvSpPr>
          <p:cNvPr id="114" name="Texto: INTRODUÇÃO"/>
          <p:cNvSpPr txBox="1"/>
          <p:nvPr/>
        </p:nvSpPr>
        <p:spPr>
          <a:xfrm>
            <a:off x="1026000" y="13518000"/>
            <a:ext cx="14652000" cy="646625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000000"/>
                </a:solidFill>
                <a:latin typeface="Arial"/>
              </a:rPr>
              <a:t>Para perceber uma queda em casa, hoje se usa câmera, que expõe a intimidade, ou pulseira, que a pessoa precisa lembrar de usar. Quedas são a segunda maior causa de morte por lesão acidental no mundo (OMS, 2021).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000000"/>
                </a:solidFill>
                <a:latin typeface="Arial"/>
              </a:rPr>
              <a:t>O Wi-Fi é uma onda que chega ao receptor por vários caminhos, direto e rebatido em paredes e pessoas, e esses caminhos se somam. Quando alguém se mexe, a soma muda. O </a:t>
            </a:r>
            <a:r>
              <a:rPr sz="2600" b="1" i="0" lang="pt-BR">
                <a:solidFill>
                  <a:srgbClr val="000000"/>
                </a:solidFill>
                <a:latin typeface="Arial"/>
              </a:rPr>
              <a:t>CSI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 (</a:t>
            </a:r>
            <a:r>
              <a:rPr sz="2600" b="0" i="1" lang="pt-BR">
                <a:solidFill>
                  <a:srgbClr val="000000"/>
                </a:solidFill>
                <a:latin typeface="Arial"/>
              </a:rPr>
              <a:t>Channel State Information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) mostra essa soma em 64 frequências, as subportadoras, a cada pacote (Figura 1). Ele já foi usado para perceber movimento e quedas (MA; ZHOU; WANG, 2019; WANG; WU; NI, 2017).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Objetivo: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investigar se o CSI medido por duas placas ESP32 de baixo custo permite detectar movimento humano sem câmeras, e mostrar ao público os limites da técnica e os riscos à privacidade.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C8215A"/>
                </a:solidFill>
                <a:latin typeface="Arial"/>
              </a:rPr>
              <a:t>Ciência Delas: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em 1942, a atriz e inventora Hedy Lamarr patenteou, com George Antheil, o salto de frequência (MARKEY; ANTHEIL, 1942), usado até hoje no Bluetooth e presente na primeira versão do Wi-Fi, de 1997.</a:t>
            </a:r>
          </a:p>
        </p:txBody>
      </p:sp>
      <p:sp>
        <p:nvSpPr>
          <p:cNvPr id="115" name="Título: MATERIAIS E MÉTODOS"/>
          <p:cNvSpPr txBox="1"/>
          <p:nvPr/>
        </p:nvSpPr>
        <p:spPr>
          <a:xfrm>
            <a:off x="1026000" y="20290257"/>
            <a:ext cx="1465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MATERIAIS E MÉTODOS</a:t>
            </a:r>
          </a:p>
        </p:txBody>
      </p:sp>
      <p:sp>
        <p:nvSpPr>
          <p:cNvPr id="116" name="Texto: MATERIAIS E MÉTODOS"/>
          <p:cNvSpPr txBox="1"/>
          <p:nvPr/>
        </p:nvSpPr>
        <p:spPr>
          <a:xfrm>
            <a:off x="1026000" y="21208257"/>
            <a:ext cx="14652000" cy="525059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Placas: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duas ESP32 com os programas oficiais e abertos da Espressif, ESP-CSI e ESP-IDF 5.5.5 (ESPRESSIF SYSTEMS, 2026). A placa A envia cerca de 50 pacotes por segundo; a placa B mede o CSI de cada um e o envia ao notebook pela USB (Figura 2).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Coleta: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um programa em Python grava 30 s de cada situação, com as condições anotadas.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Detector: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a cada 0,2 s, mede a oscilação do sinal no último segundo (o desvio padrão de cada subportadora, em média). Antes, cada pacote é levado ao mesmo volume, para tirar o efeito do ganho automático da placa B. O limite vem da sala vazia (média + 3 desvios), e “movimento” exige 3 medidas seguidas acima dele. A mesma regra roda no Python e na tela da demonstração, conferida por testes.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Testes, em casa: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sala vazia e uma pessoa cruzando a linha entre as placas, a 1,5 m sem parede e a 3,75 m com uma parede no meio.</a:t>
            </a:r>
          </a:p>
        </p:txBody>
      </p:sp>
      <p:pic>
        <p:nvPicPr>
          <p:cNvPr id="117" name="Figura 2" descr="Esquema da montagem: a placa A envia pacotes Wi-Fi, que chegam à placa B por um caminho direto e por caminhos rebatidos; uma pessoa cruza a linha entre as placas; a placa B manda o CSI ao notebook pela USB.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26000" y="26566850"/>
            <a:ext cx="14652000" cy="4319094"/>
          </a:xfrm>
          <a:prstGeom prst="rect">
            <a:avLst/>
          </a:prstGeom>
        </p:spPr>
      </p:pic>
      <p:sp>
        <p:nvSpPr>
          <p:cNvPr id="118" name="Legenda: Figura 2:"/>
          <p:cNvSpPr txBox="1"/>
          <p:nvPr/>
        </p:nvSpPr>
        <p:spPr>
          <a:xfrm>
            <a:off x="1026000" y="30921943"/>
            <a:ext cx="14652000" cy="4206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000000"/>
                </a:solidFill>
                <a:latin typeface="Arial"/>
              </a:rPr>
              <a:t>Figura 2: 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esquema da montagem (desenho). O sinal chega à placa B por vários caminhos, que se somam.</a:t>
            </a:r>
          </a:p>
        </p:txBody>
      </p:sp>
      <p:sp>
        <p:nvSpPr>
          <p:cNvPr id="119" name="Título: RESULTADOS E DISCUSSÃO"/>
          <p:cNvSpPr txBox="1"/>
          <p:nvPr/>
        </p:nvSpPr>
        <p:spPr>
          <a:xfrm>
            <a:off x="1026000" y="31648635"/>
            <a:ext cx="1465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RESULTADOS E DISCUSSÃO</a:t>
            </a:r>
          </a:p>
        </p:txBody>
      </p:sp>
      <p:sp>
        <p:nvSpPr>
          <p:cNvPr id="120" name="Texto: RESULTADOS E DISCUSSÃO"/>
          <p:cNvSpPr txBox="1"/>
          <p:nvPr/>
        </p:nvSpPr>
        <p:spPr>
          <a:xfrm>
            <a:off x="1026000" y="32566635"/>
            <a:ext cx="14652000" cy="484537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Pacotes: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a cerca de 91 pacotes/s, com o roteador da casa ao lado, só chegavam de 30% a 49%: a USB a 921.600 baud transmite umas 72 linhas de CSI por segundo. A 50 por segundo e longe do roteador, chegaram de 76% a 92%.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Ganho automático: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sem a correção do volume, a oscilação da sala vazia pulava sozinha de 0,8 a 4,8. Com ela, ficou estável.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Detecção (Tabela 1 e Figura 3):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a 1,5 m, as 7 travessias da linha foram marcadas, uma a uma, e a sala vazia deu 2 alarmes curtos em 30 s. Através da parede, não houve alarme com a sala vazia, e o andar foi percebido quase o tempo todo.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Limites: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uma gravação de 30 s por situação, em casa: mostra que funciona, mas ainda não é uma taxa de acerto.</a:t>
            </a:r>
          </a:p>
        </p:txBody>
      </p:sp>
      <p:sp>
        <p:nvSpPr>
          <p:cNvPr id="121" name="Legenda: Tabela 1:"/>
          <p:cNvSpPr txBox="1"/>
          <p:nvPr/>
        </p:nvSpPr>
        <p:spPr>
          <a:xfrm>
            <a:off x="1026000" y="37574006"/>
            <a:ext cx="14652000" cy="42069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000000"/>
                </a:solidFill>
                <a:latin typeface="Arial"/>
              </a:rPr>
              <a:t>Tabela 1: 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detector nas gravações reais de 30 s, com o limite calibrado na sala vazia de cada montagem.</a:t>
            </a:r>
          </a:p>
        </p:txBody>
      </p:sp>
      <p:graphicFrame>
        <p:nvGraphicFramePr>
          <p:cNvPr id="122" name="Tabela 1"/>
          <p:cNvGraphicFramePr>
            <a:graphicFrameLocks noGrp="1"/>
          </p:cNvGraphicFramePr>
          <p:nvPr/>
        </p:nvGraphicFramePr>
        <p:xfrm>
          <a:off x="1026000" y="38066697"/>
          <a:ext cx="14652000" cy="1944000"/>
        </p:xfrm>
        <a:graphic>
          <a:graphicData uri="http://schemas.openxmlformats.org/drawingml/2006/table">
            <a:tbl>
              <a:tblPr firstRow="1" bandRow="0">
                <a:tableStyleId>{2D5ABB26-0587-4C30-8999-92F81FD0307C}</a:tableStyleId>
              </a:tblPr>
              <a:tblGrid>
                <a:gridCol w="3708000"/>
                <a:gridCol w="3816000"/>
                <a:gridCol w="3240000"/>
                <a:gridCol w="3888000"/>
              </a:tblGrid>
              <a:tr h="864000">
                <a:tc>
                  <a:txBody>
                    <a:bodyPr wrap="square"/>
                    <a:lstStyle/>
                    <a:p>
                      <a:pPr algn="l"/>
                      <a:r>
                        <a:rPr sz="2400" b="1" lang="pt-BR">
                          <a:solidFill>
                            <a:srgbClr val="FFFFFF"/>
                          </a:solidFill>
                          <a:latin typeface="Arial"/>
                        </a:rPr>
                        <a:t>Montagem</a:t>
                      </a:r>
                    </a:p>
                  </a:txBody>
                  <a:tcPr marL="126000" marR="126000" marT="54000" marB="54000" anchor="ctr">
                    <a:solidFill>
                      <a:srgbClr val="2028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pt-BR">
                          <a:solidFill>
                            <a:srgbClr val="FFFFFF"/>
                          </a:solidFill>
                          <a:latin typeface="Arial"/>
                        </a:rPr>
                        <a:t>Oscilação típica</a:t>
                      </a:r>
                    </a:p>
                    <a:p>
                      <a:pPr algn="ctr"/>
                      <a:r>
                        <a:rPr sz="2400" b="1" lang="pt-BR">
                          <a:solidFill>
                            <a:srgbClr val="FFFFFF"/>
                          </a:solidFill>
                          <a:latin typeface="Arial"/>
                        </a:rPr>
                        <a:t>(vazio / andando)</a:t>
                      </a:r>
                    </a:p>
                  </a:txBody>
                  <a:tcPr marL="126000" marR="126000" marT="54000" marB="54000" anchor="ctr">
                    <a:solidFill>
                      <a:srgbClr val="2028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pt-BR">
                          <a:solidFill>
                            <a:srgbClr val="FFFFFF"/>
                          </a:solidFill>
                          <a:latin typeface="Arial"/>
                        </a:rPr>
                        <a:t>Sala vazia</a:t>
                      </a:r>
                    </a:p>
                    <a:p>
                      <a:pPr algn="ctr"/>
                      <a:r>
                        <a:rPr sz="2400" b="1" lang="pt-BR">
                          <a:solidFill>
                            <a:srgbClr val="FFFFFF"/>
                          </a:solidFill>
                          <a:latin typeface="Arial"/>
                        </a:rPr>
                        <a:t>(30 s)</a:t>
                      </a:r>
                    </a:p>
                  </a:txBody>
                  <a:tcPr marL="126000" marR="126000" marT="54000" marB="54000" anchor="ctr">
                    <a:solidFill>
                      <a:srgbClr val="2028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1" lang="pt-BR">
                          <a:solidFill>
                            <a:srgbClr val="FFFFFF"/>
                          </a:solidFill>
                          <a:latin typeface="Arial"/>
                        </a:rPr>
                        <a:t>Pessoa andando</a:t>
                      </a:r>
                    </a:p>
                    <a:p>
                      <a:pPr algn="ctr"/>
                      <a:r>
                        <a:rPr sz="2400" b="1" lang="pt-BR">
                          <a:solidFill>
                            <a:srgbClr val="FFFFFF"/>
                          </a:solidFill>
                          <a:latin typeface="Arial"/>
                        </a:rPr>
                        <a:t>(30 s)</a:t>
                      </a:r>
                    </a:p>
                  </a:txBody>
                  <a:tcPr marL="126000" marR="126000" marT="54000" marB="54000" anchor="ctr">
                    <a:solidFill>
                      <a:srgbClr val="20284D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2400" b="1" lang="pt-BR">
                          <a:solidFill>
                            <a:srgbClr val="000000"/>
                          </a:solidFill>
                          <a:latin typeface="Arial"/>
                        </a:rPr>
                        <a:t>1,5 m, sem parede</a:t>
                      </a:r>
                    </a:p>
                  </a:txBody>
                  <a:tcPr marL="126000" marR="126000" marT="54000" marB="54000" anchor="ctr">
                    <a:solidFill>
                      <a:srgbClr val="F1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pt-BR">
                          <a:solidFill>
                            <a:srgbClr val="000000"/>
                          </a:solidFill>
                          <a:latin typeface="Arial"/>
                        </a:rPr>
                        <a:t>0,41 / 0,64</a:t>
                      </a:r>
                    </a:p>
                  </a:txBody>
                  <a:tcPr marL="126000" marR="126000" marT="54000" marB="54000" anchor="ctr">
                    <a:solidFill>
                      <a:srgbClr val="F1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pt-BR">
                          <a:solidFill>
                            <a:srgbClr val="000000"/>
                          </a:solidFill>
                          <a:latin typeface="Arial"/>
                        </a:rPr>
                        <a:t>2 alarmes curtos</a:t>
                      </a:r>
                    </a:p>
                  </a:txBody>
                  <a:tcPr marL="126000" marR="126000" marT="54000" marB="54000" anchor="ctr">
                    <a:solidFill>
                      <a:srgbClr val="F1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pt-BR">
                          <a:solidFill>
                            <a:srgbClr val="000000"/>
                          </a:solidFill>
                          <a:latin typeface="Arial"/>
                        </a:rPr>
                        <a:t>7 de 7 travessias</a:t>
                      </a:r>
                    </a:p>
                  </a:txBody>
                  <a:tcPr marL="126000" marR="126000" marT="54000" marB="54000" anchor="ctr">
                    <a:solidFill>
                      <a:srgbClr val="F1F1F3"/>
                    </a:solidFill>
                  </a:tcPr>
                </a:tc>
              </a:tr>
              <a:tr h="540000">
                <a:tc>
                  <a:txBody>
                    <a:bodyPr wrap="square"/>
                    <a:lstStyle/>
                    <a:p>
                      <a:pPr algn="l"/>
                      <a:r>
                        <a:rPr sz="2400" b="1" lang="pt-BR">
                          <a:solidFill>
                            <a:srgbClr val="000000"/>
                          </a:solidFill>
                          <a:latin typeface="Arial"/>
                        </a:rPr>
                        <a:t>3,75 m, com parede</a:t>
                      </a:r>
                    </a:p>
                  </a:txBody>
                  <a:tcPr marL="126000" marR="126000" marT="54000" marB="54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pt-BR">
                          <a:solidFill>
                            <a:srgbClr val="000000"/>
                          </a:solidFill>
                          <a:latin typeface="Arial"/>
                        </a:rPr>
                        <a:t>0,66 / 1,16</a:t>
                      </a:r>
                    </a:p>
                  </a:txBody>
                  <a:tcPr marL="126000" marR="126000" marT="54000" marB="54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pt-BR">
                          <a:solidFill>
                            <a:srgbClr val="000000"/>
                          </a:solidFill>
                          <a:latin typeface="Arial"/>
                        </a:rPr>
                        <a:t>nenhum alarme</a:t>
                      </a:r>
                    </a:p>
                  </a:txBody>
                  <a:tcPr marL="126000" marR="126000" marT="54000" marB="540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2400" b="0" lang="pt-BR">
                          <a:solidFill>
                            <a:srgbClr val="000000"/>
                          </a:solidFill>
                          <a:latin typeface="Arial"/>
                        </a:rPr>
                        <a:t>quase o tempo todo</a:t>
                      </a:r>
                    </a:p>
                  </a:txBody>
                  <a:tcPr marL="126000" marR="126000" marT="54000" marB="540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23" name="Figura 1" descr="Duas pilhas de linhas brancas sobre fundo preto. À esquerda, sala vazia: linhas quase iguais. À direita, pessoa cruzando a linha entre as placas: as linhas do meio sobem num relevo alto.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6218000" y="12708000"/>
            <a:ext cx="14652000" cy="5757776"/>
          </a:xfrm>
          <a:prstGeom prst="rect">
            <a:avLst/>
          </a:prstGeom>
        </p:spPr>
      </p:pic>
      <p:sp>
        <p:nvSpPr>
          <p:cNvPr id="124" name="Legenda: Figura 1:"/>
          <p:cNvSpPr txBox="1"/>
          <p:nvPr/>
        </p:nvSpPr>
        <p:spPr>
          <a:xfrm>
            <a:off x="16218000" y="18555776"/>
            <a:ext cx="14652000" cy="7693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000000"/>
                </a:solidFill>
                <a:latin typeface="Arial"/>
              </a:rPr>
              <a:t>Figura 1: 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CSI real medido pela placa B, 4,8 s de cada gravação. Cada linha é uma leitura (média de 0,1 s) das 64 subportadoras; a de baixo é a mais nova. Sala vazia × pessoa cruzando a linha, a 1,5 m.</a:t>
            </a:r>
          </a:p>
        </p:txBody>
      </p:sp>
      <p:pic>
        <p:nvPicPr>
          <p:cNvPr id="125" name="Figura 3" descr="Três gráficos da oscilação do sinal ao longo de 30 segundos, com a linha tracejada do limite e faixas onde o detector disse movimento: sala vazia com dois alarmes curtos; pessoa cruzando a linha com sete picos marcados de 1 a 7; pessoa andando atrás da parede, marcada quase o tempo todo.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218000" y="19541158"/>
            <a:ext cx="14652000" cy="7559176"/>
          </a:xfrm>
          <a:prstGeom prst="rect">
            <a:avLst/>
          </a:prstGeom>
        </p:spPr>
      </p:pic>
      <p:sp>
        <p:nvSpPr>
          <p:cNvPr id="126" name="Legenda: Figura 3:"/>
          <p:cNvSpPr txBox="1"/>
          <p:nvPr/>
        </p:nvSpPr>
        <p:spPr>
          <a:xfrm>
            <a:off x="16218000" y="27136334"/>
            <a:ext cx="14652000" cy="76938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40"/>
              </a:lnSpc>
              <a:spcAft>
                <a:spcPts val="0"/>
              </a:spcAft>
            </a:pPr>
            <a:r>
              <a:rPr sz="2400" b="1" i="0" lang="pt-BR">
                <a:solidFill>
                  <a:srgbClr val="000000"/>
                </a:solidFill>
                <a:latin typeface="Arial"/>
              </a:rPr>
              <a:t>Figura 3: 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oscilação do sinal nos 30 s de cada gravação, pela mesma regra da tela. Os números marcam as 7 travessias.</a:t>
            </a:r>
          </a:p>
        </p:txBody>
      </p:sp>
      <p:sp>
        <p:nvSpPr>
          <p:cNvPr id="127" name="Título: CONCLUSÃO"/>
          <p:cNvSpPr txBox="1"/>
          <p:nvPr/>
        </p:nvSpPr>
        <p:spPr>
          <a:xfrm>
            <a:off x="16218000" y="28211717"/>
            <a:ext cx="1465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CONCLUSÃO</a:t>
            </a:r>
          </a:p>
        </p:txBody>
      </p:sp>
      <p:sp>
        <p:nvSpPr>
          <p:cNvPr id="128" name="Texto: CONCLUSÃO"/>
          <p:cNvSpPr txBox="1"/>
          <p:nvPr/>
        </p:nvSpPr>
        <p:spPr>
          <a:xfrm>
            <a:off x="16218000" y="29129717"/>
            <a:ext cx="14652000" cy="4199764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000000"/>
                </a:solidFill>
                <a:latin typeface="Arial"/>
              </a:rPr>
              <a:t>Duas placas ESP32 e programas abertos bastaram para detectar movimento humano sem câmera, inclusive através de uma parede. Foi essencial limitar a taxa de pacotes ao que a USB transmite e corrigir o ganho automático.</a:t>
            </a:r>
          </a:p>
          <a:p>
            <a:pPr algn="just">
              <a:lnSpc>
                <a:spcPts val="3068"/>
              </a:lnSpc>
              <a:spcAft>
                <a:spcPts val="1820"/>
              </a:spcAft>
            </a:pPr>
            <a:r>
              <a:rPr sz="2600" b="0" i="0" lang="pt-BR">
                <a:solidFill>
                  <a:srgbClr val="000000"/>
                </a:solidFill>
                <a:latin typeface="Arial"/>
              </a:rPr>
              <a:t>O sistema percebe movimento, não presença: uma pessoa parada não faz o sinal oscilar. E, como o sinal atravessa paredes, a técnica poderia revelar se há gente num cômodo, o que pede regras de uso e consentimento. Desde 2025 existe um padrão só para sensoriamento por Wi-Fi (IEEE, 2025).</a:t>
            </a:r>
          </a:p>
          <a:p>
            <a:pPr algn="just">
              <a:lnSpc>
                <a:spcPts val="3068"/>
              </a:lnSpc>
              <a:spcAft>
                <a:spcPts val="0"/>
              </a:spcAft>
            </a:pPr>
            <a:r>
              <a:rPr sz="2600" b="1" i="0" lang="pt-BR">
                <a:solidFill>
                  <a:srgbClr val="000000"/>
                </a:solidFill>
                <a:latin typeface="Arial"/>
              </a:rPr>
              <a:t>Próximos passos: </a:t>
            </a:r>
            <a:r>
              <a:rPr sz="2600" b="0" i="0" lang="pt-BR">
                <a:solidFill>
                  <a:srgbClr val="000000"/>
                </a:solidFill>
                <a:latin typeface="Arial"/>
              </a:rPr>
              <a:t>mais gravações, em outros dias e lugares, para medir a taxa de acerto, e testar a detecção de quedas.</a:t>
            </a:r>
          </a:p>
        </p:txBody>
      </p:sp>
      <p:sp>
        <p:nvSpPr>
          <p:cNvPr id="129" name="Título: REFERÊNCIAS"/>
          <p:cNvSpPr txBox="1"/>
          <p:nvPr/>
        </p:nvSpPr>
        <p:spPr>
          <a:xfrm>
            <a:off x="16218000" y="33635481"/>
            <a:ext cx="14652000" cy="86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6000"/>
              </a:lnSpc>
              <a:spcAft>
                <a:spcPts val="0"/>
              </a:spcAft>
            </a:pPr>
            <a:r>
              <a:rPr sz="6000" b="1" i="0" lang="pt-BR">
                <a:solidFill>
                  <a:srgbClr val="20284D"/>
                </a:solidFill>
                <a:latin typeface="Arial"/>
              </a:rPr>
              <a:t>REFERÊNCIAS</a:t>
            </a:r>
          </a:p>
        </p:txBody>
      </p:sp>
      <p:sp>
        <p:nvSpPr>
          <p:cNvPr id="130" name="Texto: REFERÊNCIAS"/>
          <p:cNvSpPr txBox="1"/>
          <p:nvPr/>
        </p:nvSpPr>
        <p:spPr>
          <a:xfrm>
            <a:off x="16218000" y="34553481"/>
            <a:ext cx="14652000" cy="4769821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88"/>
              </a:lnSpc>
              <a:spcAft>
                <a:spcPts val="1200"/>
              </a:spcAft>
            </a:pPr>
            <a:r>
              <a:rPr sz="2400" b="0" i="0" lang="pt-BR">
                <a:solidFill>
                  <a:srgbClr val="000000"/>
                </a:solidFill>
                <a:latin typeface="Arial"/>
              </a:rPr>
              <a:t>ESPRESSIF SYSTEMS. </a:t>
            </a:r>
            <a:r>
              <a:rPr sz="2400" b="1" i="0" lang="pt-BR">
                <a:solidFill>
                  <a:srgbClr val="000000"/>
                </a:solidFill>
                <a:latin typeface="Arial"/>
              </a:rPr>
              <a:t>ESP-CSI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. GitHub, 2026. Disponível em: https://github.com/espressif/esp-csi. Acesso em: 15 out. 2026.</a:t>
            </a:r>
          </a:p>
          <a:p>
            <a:pPr algn="l">
              <a:lnSpc>
                <a:spcPts val="2688"/>
              </a:lnSpc>
              <a:spcAft>
                <a:spcPts val="1200"/>
              </a:spcAft>
            </a:pPr>
            <a:r>
              <a:rPr sz="2400" b="0" i="0" lang="pt-BR">
                <a:solidFill>
                  <a:srgbClr val="000000"/>
                </a:solidFill>
                <a:latin typeface="Arial"/>
              </a:rPr>
              <a:t>IEEE. </a:t>
            </a:r>
            <a:r>
              <a:rPr sz="2400" b="1" i="0" lang="pt-BR">
                <a:solidFill>
                  <a:srgbClr val="000000"/>
                </a:solidFill>
                <a:latin typeface="Arial"/>
              </a:rPr>
              <a:t>IEEE 802.11bf-2025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: WLAN sensing. Nova York: IEEE, 2025.</a:t>
            </a:r>
          </a:p>
          <a:p>
            <a:pPr algn="l">
              <a:lnSpc>
                <a:spcPts val="2688"/>
              </a:lnSpc>
              <a:spcAft>
                <a:spcPts val="1200"/>
              </a:spcAft>
            </a:pPr>
            <a:r>
              <a:rPr sz="2400" b="0" i="0" lang="pt-BR">
                <a:solidFill>
                  <a:srgbClr val="000000"/>
                </a:solidFill>
                <a:latin typeface="Arial"/>
              </a:rPr>
              <a:t>MA, Y.; ZHOU, G.; WANG, S. WiFi sensing with channel state information: a survey. </a:t>
            </a:r>
            <a:r>
              <a:rPr sz="2400" b="1" i="0" lang="pt-BR">
                <a:solidFill>
                  <a:srgbClr val="000000"/>
                </a:solidFill>
                <a:latin typeface="Arial"/>
              </a:rPr>
              <a:t>ACM Computing Surveys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, v. 52, n. 3, 2019.</a:t>
            </a:r>
          </a:p>
          <a:p>
            <a:pPr algn="l">
              <a:lnSpc>
                <a:spcPts val="2688"/>
              </a:lnSpc>
              <a:spcAft>
                <a:spcPts val="1200"/>
              </a:spcAft>
            </a:pPr>
            <a:r>
              <a:rPr sz="2400" b="0" i="0" lang="pt-BR">
                <a:solidFill>
                  <a:srgbClr val="000000"/>
                </a:solidFill>
                <a:latin typeface="Arial"/>
              </a:rPr>
              <a:t>MARKEY, H. K. (Hedy Lamarr); ANTHEIL, G. </a:t>
            </a:r>
            <a:r>
              <a:rPr sz="2400" b="1" i="0" lang="pt-BR">
                <a:solidFill>
                  <a:srgbClr val="000000"/>
                </a:solidFill>
                <a:latin typeface="Arial"/>
              </a:rPr>
              <a:t>Secret communication system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. Patente US 2.292.387, 11 ago. 1942.</a:t>
            </a:r>
          </a:p>
          <a:p>
            <a:pPr algn="l">
              <a:lnSpc>
                <a:spcPts val="2688"/>
              </a:lnSpc>
              <a:spcAft>
                <a:spcPts val="1200"/>
              </a:spcAft>
            </a:pPr>
            <a:r>
              <a:rPr sz="2400" b="0" i="0" lang="pt-BR">
                <a:solidFill>
                  <a:srgbClr val="000000"/>
                </a:solidFill>
                <a:latin typeface="Arial"/>
              </a:rPr>
              <a:t>OMS – ORGANIZAÇÃO MUNDIAL DA SAÚDE. </a:t>
            </a:r>
            <a:r>
              <a:rPr sz="2400" b="1" i="0" lang="pt-BR">
                <a:solidFill>
                  <a:srgbClr val="000000"/>
                </a:solidFill>
                <a:latin typeface="Arial"/>
              </a:rPr>
              <a:t>Falls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. Genebra: OMS, 26 abr. 2021. Disponível em: https://www.who.int/news-room/fact-sheets/detail/falls. Acesso em: 15 out. 2026.</a:t>
            </a:r>
          </a:p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400" b="0" i="0" lang="pt-BR">
                <a:solidFill>
                  <a:srgbClr val="000000"/>
                </a:solidFill>
                <a:latin typeface="Arial"/>
              </a:rPr>
              <a:t>WANG, Y.; WU, K.; NI, L. M. WiFall: device-free fall detection by wireless networks. </a:t>
            </a:r>
            <a:r>
              <a:rPr sz="2400" b="1" i="0" lang="pt-BR">
                <a:solidFill>
                  <a:srgbClr val="000000"/>
                </a:solidFill>
                <a:latin typeface="Arial"/>
              </a:rPr>
              <a:t>IEEE Transactions on Mobile Computing</a:t>
            </a:r>
            <a:r>
              <a:rPr sz="2400" b="0" i="0" lang="pt-BR">
                <a:solidFill>
                  <a:srgbClr val="000000"/>
                </a:solidFill>
                <a:latin typeface="Arial"/>
              </a:rPr>
              <a:t>, v. 16, n. 2, 2017.</a:t>
            </a:r>
          </a:p>
        </p:txBody>
      </p:sp>
      <p:sp>
        <p:nvSpPr>
          <p:cNvPr id="131" name="Uso de IA"/>
          <p:cNvSpPr txBox="1"/>
          <p:nvPr/>
        </p:nvSpPr>
        <p:spPr>
          <a:xfrm>
            <a:off x="16218000" y="39539302"/>
            <a:ext cx="14652000" cy="78206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ts val="2688"/>
              </a:lnSpc>
              <a:spcAft>
                <a:spcPts val="0"/>
              </a:spcAft>
            </a:pPr>
            <a:r>
              <a:rPr sz="2400" b="0" i="1" lang="pt-BR">
                <a:solidFill>
                  <a:srgbClr val="555555"/>
                </a:solidFill>
                <a:latin typeface="Arial"/>
              </a:rPr>
              <a:t>Uso de inteligência artificial: o assistente Claude (Anthropic) apoiou a escrita de código e de textos. Tudo foi revisado e testado pela equipe, e os dados foram medidos por nós.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</TotalTime>
  <Words>1050</Words>
  <Application>Microsoft Office PowerPoint</Application>
  <PresentationFormat>Personalizar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10" baseType="lpstr">
      <vt:lpstr>Arial MT Pro</vt:lpstr>
      <vt:lpstr>Arial MT Pro Bold</vt:lpstr>
      <vt:lpstr>TT Rounds Condensed Bold</vt:lpstr>
      <vt:lpstr>Sunset Hill</vt:lpstr>
      <vt:lpstr>Open Sans Bold</vt:lpstr>
      <vt:lpstr>Arial</vt:lpstr>
      <vt:lpstr>TT Rounds Condensed</vt:lpstr>
      <vt:lpstr>Calibri</vt:lpstr>
      <vt:lpstr>Office Theme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poster último ppt (1).pptx</dc:title>
  <cp:lastModifiedBy>Marcos Lopes Ribeiro</cp:lastModifiedBy>
  <cp:revision>11</cp:revision>
  <dcterms:created xsi:type="dcterms:W3CDTF">2006-08-16T00:00:00Z</dcterms:created>
  <dcterms:modified xsi:type="dcterms:W3CDTF">2026-10-07T19:39:43Z</dcterms:modified>
  <dc:identifier>DAGSdtYesm4</dc:identifier>
</cp:coreProperties>
</file>